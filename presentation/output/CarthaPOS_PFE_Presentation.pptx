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2178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UML PLACEHOLDER SLIDE — paste your prepared diagram inside the dashed frame, then delete the grey note and the dashed frame. The frame covers ~82% of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UML PLACEHOLDER SLIDE — paste your prepared diagram inside the dashed frame, then delete the grey note and the dashed frame. The frame covers ~82% of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1229868"/>
            <a:ext cx="1066830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kern="0" spc="170" dirty="0">
                <a:solidFill>
                  <a:srgbClr val="B15A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FINAL YEAR ENGINEERING PROJECT   ·   2025 / 2026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61695" y="2015338"/>
            <a:ext cx="10668305" cy="11320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600" dirty="0">
                <a:solidFill>
                  <a:srgbClr val="1D1D1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CarthaPOS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761695" y="3251606"/>
            <a:ext cx="3937406" cy="0"/>
          </a:xfrm>
          <a:prstGeom prst="line">
            <a:avLst/>
          </a:prstGeom>
          <a:noFill/>
          <a:ln w="12700">
            <a:solidFill>
              <a:srgbClr val="DA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1695" y="3526841"/>
            <a:ext cx="10668305" cy="2569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Intelligent SaaS platform for automated POS generation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1695" y="3793846"/>
            <a:ext cx="10668305" cy="2569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Business Intelligence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1695" y="4328770"/>
            <a:ext cx="10668305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kern="0" spc="6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Engineering   ·   Business Intelligence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61695" y="5156302"/>
            <a:ext cx="685800" cy="495605"/>
          </a:xfrm>
          <a:prstGeom prst="roundRect">
            <a:avLst>
              <a:gd name="adj" fmla="val 15314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1598" y="5309006"/>
            <a:ext cx="279806" cy="0"/>
          </a:xfrm>
          <a:prstGeom prst="line">
            <a:avLst/>
          </a:prstGeom>
          <a:noFill/>
          <a:ln w="50800">
            <a:solidFill>
              <a:srgbClr val="B15A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1598" y="5404104"/>
            <a:ext cx="279806" cy="0"/>
          </a:xfrm>
          <a:prstGeom prst="line">
            <a:avLst/>
          </a:prstGeom>
          <a:noFill/>
          <a:ln w="50800">
            <a:solidFill>
              <a:srgbClr val="DAD4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1598" y="5499202"/>
            <a:ext cx="279806" cy="0"/>
          </a:xfrm>
          <a:prstGeom prst="line">
            <a:avLst/>
          </a:prstGeom>
          <a:noFill/>
          <a:ln w="50800">
            <a:solidFill>
              <a:srgbClr val="DAD4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11757" y="5335524"/>
            <a:ext cx="114300" cy="137160"/>
          </a:xfrm>
          <a:prstGeom prst="chevron">
            <a:avLst/>
          </a:prstGeom>
          <a:solidFill>
            <a:srgbClr val="B15A38"/>
          </a:solidFill>
          <a:ln/>
        </p:spPr>
      </p:sp>
      <p:sp>
        <p:nvSpPr>
          <p:cNvPr id="13" name="Shape 11"/>
          <p:cNvSpPr/>
          <p:nvPr/>
        </p:nvSpPr>
        <p:spPr>
          <a:xfrm>
            <a:off x="2083003" y="5251399"/>
            <a:ext cx="304495" cy="304495"/>
          </a:xfrm>
          <a:prstGeom prst="ellipse">
            <a:avLst/>
          </a:prstGeom>
          <a:ln w="30480">
            <a:solidFill>
              <a:srgbClr val="4369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16098" y="5437937"/>
            <a:ext cx="82296" cy="137160"/>
          </a:xfrm>
          <a:prstGeom prst="roundRect">
            <a:avLst>
              <a:gd name="adj" fmla="val 23333"/>
            </a:avLst>
          </a:prstGeom>
          <a:solidFill>
            <a:srgbClr val="43695E">
              <a:alpha val="67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762402" y="5300777"/>
            <a:ext cx="82296" cy="274320"/>
          </a:xfrm>
          <a:prstGeom prst="roundRect">
            <a:avLst>
              <a:gd name="adj" fmla="val 23333"/>
            </a:avLst>
          </a:prstGeom>
          <a:solidFill>
            <a:srgbClr val="43695E">
              <a:alpha val="89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908706" y="5369357"/>
            <a:ext cx="82296" cy="205740"/>
          </a:xfrm>
          <a:prstGeom prst="roundRect">
            <a:avLst>
              <a:gd name="adj" fmla="val 23333"/>
            </a:avLst>
          </a:prstGeom>
          <a:solidFill>
            <a:srgbClr val="43695E">
              <a:alpha val="7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054096" y="5232197"/>
            <a:ext cx="82296" cy="342900"/>
          </a:xfrm>
          <a:prstGeom prst="roundRect">
            <a:avLst>
              <a:gd name="adj" fmla="val 23333"/>
            </a:avLst>
          </a:prstGeom>
          <a:solidFill>
            <a:srgbClr val="43695E"/>
          </a:solidFill>
          <a:ln/>
        </p:spPr>
      </p:sp>
      <p:sp>
        <p:nvSpPr>
          <p:cNvPr id="18" name="Text 16"/>
          <p:cNvSpPr/>
          <p:nvPr/>
        </p:nvSpPr>
        <p:spPr>
          <a:xfrm>
            <a:off x="7492594" y="1820570"/>
            <a:ext cx="3937406" cy="1115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kern="0" spc="110" dirty="0">
                <a:solidFill>
                  <a:srgbClr val="8A86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STUDENT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7492594" y="1997050"/>
            <a:ext cx="3937406" cy="2139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Oussama Ferjani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492594" y="2337206"/>
            <a:ext cx="3301898" cy="0"/>
          </a:xfrm>
          <a:prstGeom prst="line">
            <a:avLst/>
          </a:prstGeom>
          <a:noFill/>
          <a:ln w="12700">
            <a:solidFill>
              <a:srgbClr val="E6E1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2594" y="2570378"/>
            <a:ext cx="3937406" cy="1115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kern="0" spc="110" dirty="0">
                <a:solidFill>
                  <a:srgbClr val="8A86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ACADEMIC YEAR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7492594" y="2745943"/>
            <a:ext cx="3937406" cy="2139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 – 2026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492594" y="3086100"/>
            <a:ext cx="3301898" cy="0"/>
          </a:xfrm>
          <a:prstGeom prst="line">
            <a:avLst/>
          </a:prstGeom>
          <a:noFill/>
          <a:ln w="12700">
            <a:solidFill>
              <a:srgbClr val="E6E1D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2594" y="3319272"/>
            <a:ext cx="3937406" cy="1115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kern="0" spc="110" dirty="0">
                <a:solidFill>
                  <a:srgbClr val="8A86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COMPANY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7492594" y="3495751"/>
            <a:ext cx="3937406" cy="2139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MAKTABI SARL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492594" y="3834994"/>
            <a:ext cx="3301898" cy="0"/>
          </a:xfrm>
          <a:prstGeom prst="line">
            <a:avLst/>
          </a:prstGeom>
          <a:noFill/>
          <a:ln w="12700">
            <a:solidFill>
              <a:srgbClr val="E6E1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2594" y="4069080"/>
            <a:ext cx="3937406" cy="1115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kern="0" spc="110" dirty="0">
                <a:solidFill>
                  <a:srgbClr val="8A86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ACADEMIC SUPERVISOR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7492594" y="4244645"/>
            <a:ext cx="3937406" cy="2139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Mme Safa Fennia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492594" y="4584802"/>
            <a:ext cx="3301898" cy="0"/>
          </a:xfrm>
          <a:prstGeom prst="line">
            <a:avLst/>
          </a:prstGeom>
          <a:noFill/>
          <a:ln w="12700">
            <a:solidFill>
              <a:srgbClr val="E6E1D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1695" y="6424574"/>
            <a:ext cx="10668305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kern="0" spc="70" dirty="0">
                <a:solidFill>
                  <a:srgbClr val="8A86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CarthaPOS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61695" y="6424574"/>
            <a:ext cx="10668305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70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/ 20</a:t>
            </a:r>
            <a:endParaRPr lang="en-US" sz="7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60B3521-186C-2E53-D44D-30E48986D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0910" y="4976152"/>
            <a:ext cx="1747188" cy="64925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9039D18-DDF0-D52F-6BE2-9DACF1B7CE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903" y="4890827"/>
            <a:ext cx="846682" cy="8759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848563"/>
            <a:ext cx="1066830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kern="0" spc="170" dirty="0">
                <a:solidFill>
                  <a:srgbClr val="B15A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 · CONTEXT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61695" y="1070762"/>
            <a:ext cx="10668305" cy="5660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3300" dirty="0">
                <a:solidFill>
                  <a:srgbClr val="1D1D1F"/>
                </a:solidFill>
                <a:latin typeface="Segoe UI Semilight" pitchFamily="34" charset="0"/>
                <a:ea typeface="Segoe UI Semilight" pitchFamily="34" charset="-122"/>
                <a:cs typeface="Segoe UI Semilight" pitchFamily="34" charset="-120"/>
              </a:rPr>
              <a:t>The Problem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61695" y="1815998"/>
            <a:ext cx="10668305" cy="0"/>
          </a:xfrm>
          <a:prstGeom prst="line">
            <a:avLst/>
          </a:prstGeom>
          <a:noFill/>
          <a:ln w="12700">
            <a:solidFill>
              <a:srgbClr val="DA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1695" y="1946758"/>
            <a:ext cx="10668305" cy="1975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POS software is built once and rarely bends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61695" y="2488997"/>
            <a:ext cx="4013302" cy="3174797"/>
          </a:xfrm>
          <a:prstGeom prst="roundRect">
            <a:avLst>
              <a:gd name="adj" fmla="val 4407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5898" y="2728570"/>
            <a:ext cx="10414102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kern="0" spc="130" dirty="0">
                <a:solidFill>
                  <a:srgbClr val="8A86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TRADITIONAL POS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260397" y="3098902"/>
            <a:ext cx="1015898" cy="737006"/>
          </a:xfrm>
          <a:prstGeom prst="roundRect">
            <a:avLst>
              <a:gd name="adj" fmla="val 8561"/>
            </a:avLst>
          </a:prstGeom>
          <a:ln w="27940">
            <a:solidFill>
              <a:srgbClr val="2B2B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2553005" y="3834994"/>
            <a:ext cx="75895" cy="215798"/>
          </a:xfrm>
          <a:prstGeom prst="line">
            <a:avLst/>
          </a:prstGeom>
          <a:noFill/>
          <a:ln w="27940">
            <a:solidFill>
              <a:srgbClr val="2B2B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08706" y="3834994"/>
            <a:ext cx="75895" cy="215798"/>
          </a:xfrm>
          <a:prstGeom prst="line">
            <a:avLst/>
          </a:prstGeom>
          <a:noFill/>
          <a:ln w="27940">
            <a:solidFill>
              <a:srgbClr val="2B2B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76195" y="4051706"/>
            <a:ext cx="584302" cy="0"/>
          </a:xfrm>
          <a:prstGeom prst="line">
            <a:avLst/>
          </a:prstGeom>
          <a:noFill/>
          <a:ln w="27940">
            <a:solidFill>
              <a:srgbClr val="2B2B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80106" y="3314700"/>
            <a:ext cx="177394" cy="177394"/>
          </a:xfrm>
          <a:prstGeom prst="arc">
            <a:avLst>
              <a:gd name="adj1" fmla="val 10800000"/>
              <a:gd name="adj2" fmla="val 21600000"/>
            </a:avLst>
          </a:prstGeom>
          <a:ln w="27940">
            <a:solidFill>
              <a:srgbClr val="2B2B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04795" y="3403397"/>
            <a:ext cx="127102" cy="139903"/>
          </a:xfrm>
          <a:prstGeom prst="roundRect">
            <a:avLst>
              <a:gd name="adj" fmla="val 20144"/>
            </a:avLst>
          </a:prstGeom>
          <a:solidFill>
            <a:srgbClr val="FFFFFF"/>
          </a:solidFill>
          <a:ln w="25400">
            <a:solidFill>
              <a:srgbClr val="2B2B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1502" y="4349801"/>
            <a:ext cx="51206" cy="51206"/>
          </a:xfrm>
          <a:prstGeom prst="line">
            <a:avLst/>
          </a:prstGeom>
          <a:noFill/>
          <a:ln w="33020">
            <a:solidFill>
              <a:srgbClr val="B15A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091794" y="4292194"/>
            <a:ext cx="88697" cy="107899"/>
          </a:xfrm>
          <a:prstGeom prst="line">
            <a:avLst/>
          </a:prstGeom>
          <a:noFill/>
          <a:ln w="33020">
            <a:solidFill>
              <a:srgbClr val="B15A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5705" y="4271162"/>
            <a:ext cx="1013429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 products &amp; features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41502" y="4591202"/>
            <a:ext cx="51206" cy="51206"/>
          </a:xfrm>
          <a:prstGeom prst="line">
            <a:avLst/>
          </a:prstGeom>
          <a:noFill/>
          <a:ln w="33020">
            <a:solidFill>
              <a:srgbClr val="B15A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1091794" y="4533595"/>
            <a:ext cx="88697" cy="107899"/>
          </a:xfrm>
          <a:prstGeom prst="line">
            <a:avLst/>
          </a:prstGeom>
          <a:noFill/>
          <a:ln w="33020">
            <a:solidFill>
              <a:srgbClr val="B15A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95705" y="4512564"/>
            <a:ext cx="1013429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 to customize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41502" y="4832604"/>
            <a:ext cx="51206" cy="51206"/>
          </a:xfrm>
          <a:prstGeom prst="line">
            <a:avLst/>
          </a:prstGeom>
          <a:noFill/>
          <a:ln w="33020">
            <a:solidFill>
              <a:srgbClr val="B15A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1091794" y="4774997"/>
            <a:ext cx="88697" cy="107899"/>
          </a:xfrm>
          <a:prstGeom prst="line">
            <a:avLst/>
          </a:prstGeom>
          <a:noFill/>
          <a:ln w="33020">
            <a:solidFill>
              <a:srgbClr val="B15A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95705" y="4753966"/>
            <a:ext cx="1013429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Separate, manual deployments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41502" y="5074006"/>
            <a:ext cx="51206" cy="51206"/>
          </a:xfrm>
          <a:prstGeom prst="line">
            <a:avLst/>
          </a:prstGeom>
          <a:noFill/>
          <a:ln w="33020">
            <a:solidFill>
              <a:srgbClr val="B15A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1091794" y="5016398"/>
            <a:ext cx="88697" cy="107899"/>
          </a:xfrm>
          <a:prstGeom prst="line">
            <a:avLst/>
          </a:prstGeom>
          <a:noFill/>
          <a:ln w="33020">
            <a:solidFill>
              <a:srgbClr val="B15A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95705" y="4995367"/>
            <a:ext cx="1013429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centralized control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41502" y="5315407"/>
            <a:ext cx="51206" cy="51206"/>
          </a:xfrm>
          <a:prstGeom prst="line">
            <a:avLst/>
          </a:prstGeom>
          <a:noFill/>
          <a:ln w="33020">
            <a:solidFill>
              <a:srgbClr val="B15A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1091794" y="5257800"/>
            <a:ext cx="88697" cy="107899"/>
          </a:xfrm>
          <a:prstGeom prst="line">
            <a:avLst/>
          </a:prstGeom>
          <a:noFill/>
          <a:ln w="33020">
            <a:solidFill>
              <a:srgbClr val="B15A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95705" y="5236769"/>
            <a:ext cx="1013429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Weak Business Intelligence link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320894" y="2894076"/>
            <a:ext cx="6109106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kern="0" spc="140" dirty="0">
                <a:solidFill>
                  <a:srgbClr val="B15A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BUSINESS NEED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320894" y="3238805"/>
            <a:ext cx="32004" cy="1587398"/>
          </a:xfrm>
          <a:prstGeom prst="roundRect">
            <a:avLst>
              <a:gd name="adj" fmla="val 48571"/>
            </a:avLst>
          </a:prstGeom>
          <a:solidFill>
            <a:srgbClr val="E7D7CE"/>
          </a:solidFill>
          <a:ln/>
        </p:spPr>
      </p:sp>
      <p:sp>
        <p:nvSpPr>
          <p:cNvPr id="31" name="Text 29"/>
          <p:cNvSpPr/>
          <p:nvPr/>
        </p:nvSpPr>
        <p:spPr>
          <a:xfrm>
            <a:off x="5587898" y="3380537"/>
            <a:ext cx="584210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1D1D1F"/>
                </a:solidFill>
                <a:latin typeface="Segoe UI Semilight" pitchFamily="34" charset="0"/>
                <a:ea typeface="Segoe UI Semilight" pitchFamily="34" charset="-122"/>
                <a:cs typeface="Segoe UI Semilight" pitchFamily="34" charset="-120"/>
              </a:rPr>
              <a:t>How can we generate customized POS systems for different business sectors — while managing clients, licences, modules and analytics from a single platform?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5320894" y="5236769"/>
            <a:ext cx="6109106" cy="1115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kern="0" spc="120" dirty="0">
                <a:solidFill>
                  <a:srgbClr val="8A86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SIX BUSINESS SECTORS, ONE GENERATOR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5320894" y="5486400"/>
            <a:ext cx="892454" cy="291694"/>
          </a:xfrm>
          <a:prstGeom prst="roundRect">
            <a:avLst>
              <a:gd name="adj" fmla="val 50157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20894" y="5533034"/>
            <a:ext cx="89245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Restaurants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302959" y="5486400"/>
            <a:ext cx="551383" cy="291694"/>
          </a:xfrm>
          <a:prstGeom prst="roundRect">
            <a:avLst>
              <a:gd name="adj" fmla="val 50157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2959" y="5533034"/>
            <a:ext cx="551383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Cafés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943039" y="5486400"/>
            <a:ext cx="721462" cy="291694"/>
          </a:xfrm>
          <a:prstGeom prst="roundRect">
            <a:avLst>
              <a:gd name="adj" fmla="val 50157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3039" y="5533034"/>
            <a:ext cx="72146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Bakeries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753198" y="5486400"/>
            <a:ext cx="608076" cy="291694"/>
          </a:xfrm>
          <a:prstGeom prst="roundRect">
            <a:avLst>
              <a:gd name="adj" fmla="val 50157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53198" y="5533034"/>
            <a:ext cx="60807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450885" y="5486400"/>
            <a:ext cx="835762" cy="291694"/>
          </a:xfrm>
          <a:prstGeom prst="roundRect">
            <a:avLst>
              <a:gd name="adj" fmla="val 50157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50885" y="5533034"/>
            <a:ext cx="83576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Pharmacies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9375343" y="5486400"/>
            <a:ext cx="608076" cy="291694"/>
          </a:xfrm>
          <a:prstGeom prst="roundRect">
            <a:avLst>
              <a:gd name="adj" fmla="val 50157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75343" y="5533034"/>
            <a:ext cx="60807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Salons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61695" y="6424574"/>
            <a:ext cx="10668305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kern="0" spc="70" dirty="0">
                <a:solidFill>
                  <a:srgbClr val="8A86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CarthaPOS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761695" y="6424574"/>
            <a:ext cx="10668305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70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20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848563"/>
            <a:ext cx="1066830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kern="0" spc="170" dirty="0">
                <a:solidFill>
                  <a:srgbClr val="B15A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 · STATE OF THE ART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61695" y="1070762"/>
            <a:ext cx="10668305" cy="5660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3300" dirty="0">
                <a:solidFill>
                  <a:srgbClr val="1D1D1F"/>
                </a:solidFill>
                <a:latin typeface="Segoe UI Semilight" pitchFamily="34" charset="0"/>
                <a:ea typeface="Segoe UI Semilight" pitchFamily="34" charset="-122"/>
                <a:cs typeface="Segoe UI Semilight" pitchFamily="34" charset="-120"/>
              </a:rPr>
              <a:t>Existing Solutions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61695" y="1815998"/>
            <a:ext cx="10668305" cy="0"/>
          </a:xfrm>
          <a:prstGeom prst="line">
            <a:avLst/>
          </a:prstGeom>
          <a:noFill/>
          <a:ln w="12700">
            <a:solidFill>
              <a:srgbClr val="DA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1695" y="1946758"/>
            <a:ext cx="10668305" cy="1975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mature categories — none covers the full need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61695" y="2488997"/>
            <a:ext cx="3187598" cy="2158898"/>
          </a:xfrm>
          <a:prstGeom prst="roundRect">
            <a:avLst>
              <a:gd name="adj" fmla="val 5887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1695" y="2603297"/>
            <a:ext cx="25603" cy="1930298"/>
          </a:xfrm>
          <a:prstGeom prst="roundRect">
            <a:avLst>
              <a:gd name="adj" fmla="val 50000"/>
            </a:avLst>
          </a:prstGeom>
          <a:solidFill>
            <a:srgbClr val="B15A38"/>
          </a:solidFill>
          <a:ln/>
        </p:spPr>
      </p:sp>
      <p:sp>
        <p:nvSpPr>
          <p:cNvPr id="8" name="Text 6"/>
          <p:cNvSpPr/>
          <p:nvPr/>
        </p:nvSpPr>
        <p:spPr>
          <a:xfrm>
            <a:off x="977494" y="2697480"/>
            <a:ext cx="10452506" cy="1115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b="1" kern="0" spc="110" dirty="0">
                <a:solidFill>
                  <a:srgbClr val="B15A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CATEGORY 1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977494" y="2879446"/>
            <a:ext cx="2806294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Traditional POS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80237" y="3266237"/>
            <a:ext cx="32918" cy="32918"/>
          </a:xfrm>
          <a:prstGeom prst="ellipse">
            <a:avLst/>
          </a:prstGeom>
          <a:solidFill>
            <a:srgbClr val="8A867C"/>
          </a:solidFill>
          <a:ln/>
        </p:spPr>
      </p:sp>
      <p:sp>
        <p:nvSpPr>
          <p:cNvPr id="11" name="Text 9"/>
          <p:cNvSpPr/>
          <p:nvPr/>
        </p:nvSpPr>
        <p:spPr>
          <a:xfrm>
            <a:off x="1117397" y="3204058"/>
            <a:ext cx="27432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Sector-specific, but fixed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80237" y="3494837"/>
            <a:ext cx="32918" cy="32918"/>
          </a:xfrm>
          <a:prstGeom prst="ellipse">
            <a:avLst/>
          </a:prstGeom>
          <a:solidFill>
            <a:srgbClr val="8A867C"/>
          </a:solidFill>
          <a:ln/>
        </p:spPr>
      </p:sp>
      <p:sp>
        <p:nvSpPr>
          <p:cNvPr id="13" name="Text 11"/>
          <p:cNvSpPr/>
          <p:nvPr/>
        </p:nvSpPr>
        <p:spPr>
          <a:xfrm>
            <a:off x="1117397" y="3432658"/>
            <a:ext cx="27432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central client management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80237" y="3723437"/>
            <a:ext cx="32918" cy="32918"/>
          </a:xfrm>
          <a:prstGeom prst="ellipse">
            <a:avLst/>
          </a:prstGeom>
          <a:solidFill>
            <a:srgbClr val="8A867C"/>
          </a:solidFill>
          <a:ln/>
        </p:spPr>
      </p:sp>
      <p:sp>
        <p:nvSpPr>
          <p:cNvPr id="15" name="Text 13"/>
          <p:cNvSpPr/>
          <p:nvPr/>
        </p:nvSpPr>
        <p:spPr>
          <a:xfrm>
            <a:off x="1117397" y="3661258"/>
            <a:ext cx="27432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analytics layer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355494" y="4686300"/>
            <a:ext cx="0" cy="241402"/>
          </a:xfrm>
          <a:prstGeom prst="line">
            <a:avLst/>
          </a:prstGeom>
          <a:noFill/>
          <a:ln w="17780">
            <a:solidFill>
              <a:srgbClr val="DAD4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02506" y="2488997"/>
            <a:ext cx="3187598" cy="2158898"/>
          </a:xfrm>
          <a:prstGeom prst="roundRect">
            <a:avLst>
              <a:gd name="adj" fmla="val 5887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02506" y="2603297"/>
            <a:ext cx="25603" cy="1930298"/>
          </a:xfrm>
          <a:prstGeom prst="roundRect">
            <a:avLst>
              <a:gd name="adj" fmla="val 50000"/>
            </a:avLst>
          </a:prstGeom>
          <a:solidFill>
            <a:srgbClr val="4A6B86"/>
          </a:solidFill>
          <a:ln/>
        </p:spPr>
      </p:sp>
      <p:sp>
        <p:nvSpPr>
          <p:cNvPr id="19" name="Text 17"/>
          <p:cNvSpPr/>
          <p:nvPr/>
        </p:nvSpPr>
        <p:spPr>
          <a:xfrm>
            <a:off x="4718304" y="2697480"/>
            <a:ext cx="6711696" cy="1115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b="1" kern="0" spc="110" dirty="0">
                <a:solidFill>
                  <a:srgbClr val="4A6B8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CATEGORY 2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4718304" y="2879446"/>
            <a:ext cx="2806294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SaaS admin platforms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21047" y="3266237"/>
            <a:ext cx="32918" cy="32918"/>
          </a:xfrm>
          <a:prstGeom prst="ellipse">
            <a:avLst/>
          </a:prstGeom>
          <a:solidFill>
            <a:srgbClr val="8A867C"/>
          </a:solidFill>
          <a:ln/>
        </p:spPr>
      </p:sp>
      <p:sp>
        <p:nvSpPr>
          <p:cNvPr id="22" name="Text 20"/>
          <p:cNvSpPr/>
          <p:nvPr/>
        </p:nvSpPr>
        <p:spPr>
          <a:xfrm>
            <a:off x="4858207" y="3204058"/>
            <a:ext cx="27432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accounts &amp; billing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21047" y="3494837"/>
            <a:ext cx="32918" cy="32918"/>
          </a:xfrm>
          <a:prstGeom prst="ellipse">
            <a:avLst/>
          </a:prstGeom>
          <a:solidFill>
            <a:srgbClr val="8A867C"/>
          </a:solidFill>
          <a:ln/>
        </p:spPr>
      </p:sp>
      <p:sp>
        <p:nvSpPr>
          <p:cNvPr id="24" name="Text 22"/>
          <p:cNvSpPr/>
          <p:nvPr/>
        </p:nvSpPr>
        <p:spPr>
          <a:xfrm>
            <a:off x="4858207" y="3432658"/>
            <a:ext cx="27432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build the POS software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21047" y="3723437"/>
            <a:ext cx="32918" cy="32918"/>
          </a:xfrm>
          <a:prstGeom prst="ellipse">
            <a:avLst/>
          </a:prstGeom>
          <a:solidFill>
            <a:srgbClr val="8A867C"/>
          </a:solidFill>
          <a:ln/>
        </p:spPr>
      </p:sp>
      <p:sp>
        <p:nvSpPr>
          <p:cNvPr id="26" name="Text 24"/>
          <p:cNvSpPr/>
          <p:nvPr/>
        </p:nvSpPr>
        <p:spPr>
          <a:xfrm>
            <a:off x="4858207" y="3661258"/>
            <a:ext cx="27432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Generic, not sector-aware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96305" y="4686300"/>
            <a:ext cx="0" cy="241402"/>
          </a:xfrm>
          <a:prstGeom prst="line">
            <a:avLst/>
          </a:prstGeom>
          <a:noFill/>
          <a:ln w="17780">
            <a:solidFill>
              <a:srgbClr val="DAD4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42402" y="2488997"/>
            <a:ext cx="3187598" cy="2158898"/>
          </a:xfrm>
          <a:prstGeom prst="roundRect">
            <a:avLst>
              <a:gd name="adj" fmla="val 5887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42402" y="2603297"/>
            <a:ext cx="25603" cy="1930298"/>
          </a:xfrm>
          <a:prstGeom prst="roundRect">
            <a:avLst>
              <a:gd name="adj" fmla="val 50000"/>
            </a:avLst>
          </a:prstGeom>
          <a:solidFill>
            <a:srgbClr val="43695E"/>
          </a:solidFill>
          <a:ln/>
        </p:spPr>
      </p:sp>
      <p:sp>
        <p:nvSpPr>
          <p:cNvPr id="30" name="Text 28"/>
          <p:cNvSpPr/>
          <p:nvPr/>
        </p:nvSpPr>
        <p:spPr>
          <a:xfrm>
            <a:off x="8458200" y="2697480"/>
            <a:ext cx="2971800" cy="1115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b="1" kern="0" spc="110" dirty="0">
                <a:solidFill>
                  <a:srgbClr val="43695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CATEGORY 3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8458200" y="2879446"/>
            <a:ext cx="2806294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Standalone BI tools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460943" y="3266237"/>
            <a:ext cx="32918" cy="32918"/>
          </a:xfrm>
          <a:prstGeom prst="ellipse">
            <a:avLst/>
          </a:prstGeom>
          <a:solidFill>
            <a:srgbClr val="8A867C"/>
          </a:solidFill>
          <a:ln/>
        </p:spPr>
      </p:sp>
      <p:sp>
        <p:nvSpPr>
          <p:cNvPr id="33" name="Text 31"/>
          <p:cNvSpPr/>
          <p:nvPr/>
        </p:nvSpPr>
        <p:spPr>
          <a:xfrm>
            <a:off x="8598103" y="3204058"/>
            <a:ext cx="27432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Powerful dashboards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460943" y="3494837"/>
            <a:ext cx="32918" cy="32918"/>
          </a:xfrm>
          <a:prstGeom prst="ellipse">
            <a:avLst/>
          </a:prstGeom>
          <a:solidFill>
            <a:srgbClr val="8A867C"/>
          </a:solidFill>
          <a:ln/>
        </p:spPr>
      </p:sp>
      <p:sp>
        <p:nvSpPr>
          <p:cNvPr id="35" name="Text 33"/>
          <p:cNvSpPr/>
          <p:nvPr/>
        </p:nvSpPr>
        <p:spPr>
          <a:xfrm>
            <a:off x="8598103" y="3432658"/>
            <a:ext cx="27432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POS data model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460943" y="3723437"/>
            <a:ext cx="32918" cy="32918"/>
          </a:xfrm>
          <a:prstGeom prst="ellipse">
            <a:avLst/>
          </a:prstGeom>
          <a:solidFill>
            <a:srgbClr val="8A867C"/>
          </a:solidFill>
          <a:ln/>
        </p:spPr>
      </p:sp>
      <p:sp>
        <p:nvSpPr>
          <p:cNvPr id="37" name="Text 35"/>
          <p:cNvSpPr/>
          <p:nvPr/>
        </p:nvSpPr>
        <p:spPr>
          <a:xfrm>
            <a:off x="8598103" y="3661258"/>
            <a:ext cx="27432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per-client isolation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836201" y="4686300"/>
            <a:ext cx="0" cy="241402"/>
          </a:xfrm>
          <a:prstGeom prst="line">
            <a:avLst/>
          </a:prstGeom>
          <a:noFill/>
          <a:ln w="17780">
            <a:solidFill>
              <a:srgbClr val="DAD4C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55494" y="4927702"/>
            <a:ext cx="7480706" cy="0"/>
          </a:xfrm>
          <a:prstGeom prst="line">
            <a:avLst/>
          </a:prstGeom>
          <a:noFill/>
          <a:ln w="17780">
            <a:solidFill>
              <a:srgbClr val="DAD4C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96305" y="4927702"/>
            <a:ext cx="0" cy="215798"/>
          </a:xfrm>
          <a:prstGeom prst="line">
            <a:avLst/>
          </a:prstGeom>
          <a:noFill/>
          <a:ln w="17780">
            <a:solidFill>
              <a:srgbClr val="DAD4C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000500" y="5143500"/>
            <a:ext cx="4190695" cy="533095"/>
          </a:xfrm>
          <a:prstGeom prst="roundRect">
            <a:avLst>
              <a:gd name="adj" fmla="val 50086"/>
            </a:avLst>
          </a:prstGeom>
          <a:solidFill>
            <a:srgbClr val="FCFBF7"/>
          </a:solidFill>
          <a:ln w="25400">
            <a:solidFill>
              <a:srgbClr val="B15A3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00500" y="5287061"/>
            <a:ext cx="4190695" cy="1975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CarthaPOS  =  the intersection of all three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61695" y="6424574"/>
            <a:ext cx="10668305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kern="0" spc="70" dirty="0">
                <a:solidFill>
                  <a:srgbClr val="8A86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CarthaPOS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61695" y="6424574"/>
            <a:ext cx="10668305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70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20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848563"/>
            <a:ext cx="1066830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kern="0" spc="170" dirty="0">
                <a:solidFill>
                  <a:srgbClr val="B15A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· VISION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61695" y="1070762"/>
            <a:ext cx="10668305" cy="5660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3300" dirty="0">
                <a:solidFill>
                  <a:srgbClr val="1D1D1F"/>
                </a:solidFill>
                <a:latin typeface="Segoe UI Semilight" pitchFamily="34" charset="0"/>
                <a:ea typeface="Segoe UI Semilight" pitchFamily="34" charset="-122"/>
                <a:cs typeface="Segoe UI Semilight" pitchFamily="34" charset="-120"/>
              </a:rPr>
              <a:t>CarthaPOS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61695" y="1815998"/>
            <a:ext cx="10668305" cy="0"/>
          </a:xfrm>
          <a:prstGeom prst="line">
            <a:avLst/>
          </a:prstGeom>
          <a:noFill/>
          <a:ln w="12700">
            <a:solidFill>
              <a:srgbClr val="DA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1695" y="1946758"/>
            <a:ext cx="10668305" cy="1975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continuous lifecycle — from a client to actionable insight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61695" y="2565806"/>
            <a:ext cx="1663294" cy="1270102"/>
          </a:xfrm>
          <a:prstGeom prst="roundRect">
            <a:avLst>
              <a:gd name="adj" fmla="val 8999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90295" y="2908706"/>
            <a:ext cx="127102" cy="152705"/>
          </a:xfrm>
          <a:prstGeom prst="roundRect">
            <a:avLst>
              <a:gd name="adj" fmla="val 10072"/>
            </a:avLst>
          </a:prstGeom>
          <a:ln w="27940">
            <a:solidFill>
              <a:srgbClr val="B15A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3506" y="2908706"/>
            <a:ext cx="0" cy="44806"/>
          </a:xfrm>
          <a:prstGeom prst="line">
            <a:avLst/>
          </a:prstGeom>
          <a:noFill/>
          <a:ln w="30480">
            <a:solidFill>
              <a:srgbClr val="B15A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3506" y="2952598"/>
            <a:ext cx="44806" cy="0"/>
          </a:xfrm>
          <a:prstGeom prst="line">
            <a:avLst/>
          </a:prstGeom>
          <a:noFill/>
          <a:ln w="30480">
            <a:solidFill>
              <a:srgbClr val="B15A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2299" y="2978201"/>
            <a:ext cx="63094" cy="0"/>
          </a:xfrm>
          <a:prstGeom prst="line">
            <a:avLst/>
          </a:prstGeom>
          <a:noFill/>
          <a:ln w="22860">
            <a:solidFill>
              <a:srgbClr val="B15A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2299" y="3016606"/>
            <a:ext cx="63094" cy="0"/>
          </a:xfrm>
          <a:prstGeom prst="line">
            <a:avLst/>
          </a:prstGeom>
          <a:noFill/>
          <a:ln w="22860">
            <a:solidFill>
              <a:srgbClr val="B15A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5606" y="3355848"/>
            <a:ext cx="1345997" cy="2139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Generate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661818" y="3126334"/>
            <a:ext cx="123444" cy="149047"/>
          </a:xfrm>
          <a:prstGeom prst="chevron">
            <a:avLst/>
          </a:prstGeom>
          <a:solidFill>
            <a:srgbClr val="B15A38"/>
          </a:solidFill>
          <a:ln/>
        </p:spPr>
      </p:sp>
      <p:sp>
        <p:nvSpPr>
          <p:cNvPr id="14" name="Shape 12"/>
          <p:cNvSpPr/>
          <p:nvPr/>
        </p:nvSpPr>
        <p:spPr>
          <a:xfrm>
            <a:off x="3012948" y="2565806"/>
            <a:ext cx="1663294" cy="1270102"/>
          </a:xfrm>
          <a:prstGeom prst="roundRect">
            <a:avLst>
              <a:gd name="adj" fmla="val 8999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60750" y="2939796"/>
            <a:ext cx="88697" cy="88697"/>
          </a:xfrm>
          <a:prstGeom prst="ellipse">
            <a:avLst/>
          </a:prstGeom>
          <a:ln w="27940">
            <a:solidFill>
              <a:srgbClr val="B15A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05556" y="2902306"/>
            <a:ext cx="0" cy="25603"/>
          </a:xfrm>
          <a:prstGeom prst="line">
            <a:avLst/>
          </a:prstGeom>
          <a:noFill/>
          <a:ln w="30480">
            <a:solidFill>
              <a:srgbClr val="B15A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05556" y="3041294"/>
            <a:ext cx="0" cy="25603"/>
          </a:xfrm>
          <a:prstGeom prst="line">
            <a:avLst/>
          </a:prstGeom>
          <a:noFill/>
          <a:ln w="30480">
            <a:solidFill>
              <a:srgbClr val="B15A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22346" y="2984602"/>
            <a:ext cx="25603" cy="0"/>
          </a:xfrm>
          <a:prstGeom prst="line">
            <a:avLst/>
          </a:prstGeom>
          <a:noFill/>
          <a:ln w="30480">
            <a:solidFill>
              <a:srgbClr val="B15A3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62249" y="2984602"/>
            <a:ext cx="25603" cy="0"/>
          </a:xfrm>
          <a:prstGeom prst="line">
            <a:avLst/>
          </a:prstGeom>
          <a:noFill/>
          <a:ln w="30480">
            <a:solidFill>
              <a:srgbClr val="B15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15945" y="3355848"/>
            <a:ext cx="1345997" cy="2139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Customize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913071" y="3126334"/>
            <a:ext cx="123444" cy="149047"/>
          </a:xfrm>
          <a:prstGeom prst="chevron">
            <a:avLst/>
          </a:prstGeom>
          <a:solidFill>
            <a:srgbClr val="B15A38"/>
          </a:solidFill>
          <a:ln/>
        </p:spPr>
      </p:sp>
      <p:sp>
        <p:nvSpPr>
          <p:cNvPr id="22" name="Shape 20"/>
          <p:cNvSpPr/>
          <p:nvPr/>
        </p:nvSpPr>
        <p:spPr>
          <a:xfrm>
            <a:off x="5264201" y="2565806"/>
            <a:ext cx="1663294" cy="1270102"/>
          </a:xfrm>
          <a:prstGeom prst="roundRect">
            <a:avLst>
              <a:gd name="adj" fmla="val 8999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0" y="2933395"/>
            <a:ext cx="139903" cy="101498"/>
          </a:xfrm>
          <a:prstGeom prst="roundRect">
            <a:avLst>
              <a:gd name="adj" fmla="val 12613"/>
            </a:avLst>
          </a:prstGeom>
          <a:ln w="27940">
            <a:solidFill>
              <a:srgbClr val="B15A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0" y="2978201"/>
            <a:ext cx="139903" cy="0"/>
          </a:xfrm>
          <a:prstGeom prst="line">
            <a:avLst/>
          </a:prstGeom>
          <a:noFill/>
          <a:ln w="25400">
            <a:solidFill>
              <a:srgbClr val="B15A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12918" y="2998318"/>
            <a:ext cx="22860" cy="22860"/>
          </a:xfrm>
          <a:prstGeom prst="ellipse">
            <a:avLst/>
          </a:prstGeom>
          <a:solidFill>
            <a:srgbClr val="B15A38"/>
          </a:solidFill>
          <a:ln/>
        </p:spPr>
      </p:sp>
      <p:sp>
        <p:nvSpPr>
          <p:cNvPr id="26" name="Shape 24"/>
          <p:cNvSpPr/>
          <p:nvPr/>
        </p:nvSpPr>
        <p:spPr>
          <a:xfrm>
            <a:off x="5562295" y="3010205"/>
            <a:ext cx="38405" cy="0"/>
          </a:xfrm>
          <a:prstGeom prst="line">
            <a:avLst/>
          </a:prstGeom>
          <a:noFill/>
          <a:ln w="22860">
            <a:solidFill>
              <a:srgbClr val="B15A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67198" y="3355848"/>
            <a:ext cx="1345997" cy="2139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License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163410" y="3126334"/>
            <a:ext cx="123444" cy="149047"/>
          </a:xfrm>
          <a:prstGeom prst="chevron">
            <a:avLst/>
          </a:prstGeom>
          <a:solidFill>
            <a:srgbClr val="B15A38"/>
          </a:solidFill>
          <a:ln/>
        </p:spPr>
      </p:sp>
      <p:sp>
        <p:nvSpPr>
          <p:cNvPr id="29" name="Shape 27"/>
          <p:cNvSpPr/>
          <p:nvPr/>
        </p:nvSpPr>
        <p:spPr>
          <a:xfrm>
            <a:off x="7515454" y="2565806"/>
            <a:ext cx="1663294" cy="1270102"/>
          </a:xfrm>
          <a:prstGeom prst="roundRect">
            <a:avLst>
              <a:gd name="adj" fmla="val 8999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 flipV="1">
            <a:off x="7807147" y="2920594"/>
            <a:ext cx="0" cy="133502"/>
          </a:xfrm>
          <a:prstGeom prst="line">
            <a:avLst/>
          </a:prstGeom>
          <a:noFill/>
          <a:ln w="30480">
            <a:solidFill>
              <a:srgbClr val="B15A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7756855" y="2920594"/>
            <a:ext cx="51206" cy="51206"/>
          </a:xfrm>
          <a:prstGeom prst="line">
            <a:avLst/>
          </a:prstGeom>
          <a:noFill/>
          <a:ln w="30480">
            <a:solidFill>
              <a:srgbClr val="B15A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 flipV="1">
            <a:off x="7807147" y="2920594"/>
            <a:ext cx="51206" cy="51206"/>
          </a:xfrm>
          <a:prstGeom prst="line">
            <a:avLst/>
          </a:prstGeom>
          <a:noFill/>
          <a:ln w="30480">
            <a:solidFill>
              <a:srgbClr val="B15A3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37653" y="3054096"/>
            <a:ext cx="139903" cy="0"/>
          </a:xfrm>
          <a:prstGeom prst="line">
            <a:avLst/>
          </a:prstGeom>
          <a:noFill/>
          <a:ln w="27940">
            <a:solidFill>
              <a:srgbClr val="B15A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18450" y="3355848"/>
            <a:ext cx="1345997" cy="2139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Deploy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414662" y="3126334"/>
            <a:ext cx="123444" cy="149047"/>
          </a:xfrm>
          <a:prstGeom prst="chevron">
            <a:avLst/>
          </a:prstGeom>
          <a:solidFill>
            <a:srgbClr val="B15A38"/>
          </a:solidFill>
          <a:ln/>
        </p:spPr>
      </p:sp>
      <p:sp>
        <p:nvSpPr>
          <p:cNvPr id="36" name="Shape 34"/>
          <p:cNvSpPr/>
          <p:nvPr/>
        </p:nvSpPr>
        <p:spPr>
          <a:xfrm>
            <a:off x="9766706" y="2565806"/>
            <a:ext cx="1663294" cy="1270102"/>
          </a:xfrm>
          <a:prstGeom prst="roundRect">
            <a:avLst>
              <a:gd name="adj" fmla="val 8999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988906" y="3041294"/>
            <a:ext cx="139903" cy="0"/>
          </a:xfrm>
          <a:prstGeom prst="line">
            <a:avLst/>
          </a:prstGeom>
          <a:noFill/>
          <a:ln w="27940">
            <a:solidFill>
              <a:srgbClr val="B15A3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10019995" y="2997403"/>
            <a:ext cx="0" cy="44806"/>
          </a:xfrm>
          <a:prstGeom prst="line">
            <a:avLst/>
          </a:prstGeom>
          <a:noFill/>
          <a:ln w="30480">
            <a:solidFill>
              <a:srgbClr val="B15A3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10058400" y="2958998"/>
            <a:ext cx="0" cy="82296"/>
          </a:xfrm>
          <a:prstGeom prst="line">
            <a:avLst/>
          </a:prstGeom>
          <a:noFill/>
          <a:ln w="30480">
            <a:solidFill>
              <a:srgbClr val="B15A3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10096805" y="3010205"/>
            <a:ext cx="0" cy="32004"/>
          </a:xfrm>
          <a:prstGeom prst="line">
            <a:avLst/>
          </a:prstGeom>
          <a:noFill/>
          <a:ln w="30480">
            <a:solidFill>
              <a:srgbClr val="B15A3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969703" y="3355848"/>
            <a:ext cx="1345997" cy="2139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Analyze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761695" y="4240073"/>
            <a:ext cx="10668305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kern="0" spc="140" dirty="0">
                <a:solidFill>
                  <a:srgbClr val="8A86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ECOSYSTEM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761695" y="4483303"/>
            <a:ext cx="1561795" cy="609905"/>
          </a:xfrm>
          <a:prstGeom prst="roundRect">
            <a:avLst>
              <a:gd name="adj" fmla="val 14543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5703" y="4715561"/>
            <a:ext cx="1434694" cy="1453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374697" y="4787798"/>
            <a:ext cx="157277" cy="0"/>
          </a:xfrm>
          <a:prstGeom prst="line">
            <a:avLst/>
          </a:prstGeom>
          <a:noFill/>
          <a:ln w="25400">
            <a:solidFill>
              <a:srgbClr val="8A867C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2583180" y="4483303"/>
            <a:ext cx="1561795" cy="609905"/>
          </a:xfrm>
          <a:prstGeom prst="roundRect">
            <a:avLst>
              <a:gd name="adj" fmla="val 14543"/>
            </a:avLst>
          </a:prstGeom>
          <a:solidFill>
            <a:srgbClr val="EFEBDF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46274" y="4715561"/>
            <a:ext cx="1434694" cy="1453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CarthaPOS platform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196182" y="4787798"/>
            <a:ext cx="157277" cy="0"/>
          </a:xfrm>
          <a:prstGeom prst="line">
            <a:avLst/>
          </a:prstGeom>
          <a:noFill/>
          <a:ln w="25400">
            <a:solidFill>
              <a:srgbClr val="8A867C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4404665" y="4483303"/>
            <a:ext cx="1561795" cy="609905"/>
          </a:xfrm>
          <a:prstGeom prst="roundRect">
            <a:avLst>
              <a:gd name="adj" fmla="val 14543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67758" y="4715561"/>
            <a:ext cx="1434694" cy="1453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Customized POS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017666" y="4787798"/>
            <a:ext cx="157277" cy="0"/>
          </a:xfrm>
          <a:prstGeom prst="line">
            <a:avLst/>
          </a:prstGeom>
          <a:noFill/>
          <a:ln w="25400">
            <a:solidFill>
              <a:srgbClr val="8A867C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6225235" y="4483303"/>
            <a:ext cx="1561795" cy="609905"/>
          </a:xfrm>
          <a:prstGeom prst="roundRect">
            <a:avLst>
              <a:gd name="adj" fmla="val 14543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89243" y="4715561"/>
            <a:ext cx="1434694" cy="1453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data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838237" y="4787798"/>
            <a:ext cx="157277" cy="0"/>
          </a:xfrm>
          <a:prstGeom prst="line">
            <a:avLst/>
          </a:prstGeom>
          <a:noFill/>
          <a:ln w="25400">
            <a:solidFill>
              <a:srgbClr val="8A867C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8046720" y="4483303"/>
            <a:ext cx="1561795" cy="609905"/>
          </a:xfrm>
          <a:prstGeom prst="roundRect">
            <a:avLst>
              <a:gd name="adj" fmla="val 14543"/>
            </a:avLst>
          </a:prstGeom>
          <a:solidFill>
            <a:srgbClr val="EFEBDF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109814" y="4715561"/>
            <a:ext cx="1434694" cy="1453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Intelligence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9659722" y="4787798"/>
            <a:ext cx="157277" cy="0"/>
          </a:xfrm>
          <a:prstGeom prst="line">
            <a:avLst/>
          </a:prstGeom>
          <a:noFill/>
          <a:ln w="25400">
            <a:solidFill>
              <a:srgbClr val="8A867C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9868205" y="4483303"/>
            <a:ext cx="1561795" cy="609905"/>
          </a:xfrm>
          <a:prstGeom prst="roundRect">
            <a:avLst>
              <a:gd name="adj" fmla="val 14543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931298" y="4715561"/>
            <a:ext cx="1434694" cy="1453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insights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762195" y="5435194"/>
            <a:ext cx="2667305" cy="291694"/>
          </a:xfrm>
          <a:prstGeom prst="roundRect">
            <a:avLst>
              <a:gd name="adj" fmla="val 50157"/>
            </a:avLst>
          </a:prstGeom>
          <a:solidFill>
            <a:srgbClr val="F7F5EF"/>
          </a:solidFill>
          <a:ln w="19050">
            <a:solidFill>
              <a:srgbClr val="D8E2D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62195" y="5503774"/>
            <a:ext cx="2667305" cy="128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i="1" dirty="0">
                <a:solidFill>
                  <a:srgbClr val="436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insights feed the next configuration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1543507" y="5143500"/>
            <a:ext cx="0" cy="291694"/>
          </a:xfrm>
          <a:prstGeom prst="line">
            <a:avLst/>
          </a:prstGeom>
          <a:noFill/>
          <a:ln w="20320">
            <a:solidFill>
              <a:srgbClr val="43695E"/>
            </a:solidFill>
            <a:prstDash val="dash"/>
            <a:headEnd type="none"/>
            <a:tailEnd type="triangle"/>
          </a:ln>
        </p:spPr>
      </p:sp>
      <p:sp>
        <p:nvSpPr>
          <p:cNvPr id="63" name="Shape 61"/>
          <p:cNvSpPr/>
          <p:nvPr/>
        </p:nvSpPr>
        <p:spPr>
          <a:xfrm flipV="1">
            <a:off x="10649102" y="5143500"/>
            <a:ext cx="0" cy="291694"/>
          </a:xfrm>
          <a:prstGeom prst="line">
            <a:avLst/>
          </a:prstGeom>
          <a:noFill/>
          <a:ln w="20320">
            <a:solidFill>
              <a:srgbClr val="43695E"/>
            </a:solidFill>
            <a:prstDash val="dash"/>
            <a:headEnd type="none"/>
            <a:tailEnd type="triangle"/>
          </a:ln>
        </p:spPr>
      </p:sp>
      <p:sp>
        <p:nvSpPr>
          <p:cNvPr id="64" name="Text 62"/>
          <p:cNvSpPr/>
          <p:nvPr/>
        </p:nvSpPr>
        <p:spPr>
          <a:xfrm>
            <a:off x="761695" y="6424574"/>
            <a:ext cx="10668305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kern="0" spc="70" dirty="0">
                <a:solidFill>
                  <a:srgbClr val="8A86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CarthaPOS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761695" y="6424574"/>
            <a:ext cx="10668305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70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20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848563"/>
            <a:ext cx="1066830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kern="0" spc="170" dirty="0">
                <a:solidFill>
                  <a:srgbClr val="B15A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 · REQUIREMENTS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61695" y="1070762"/>
            <a:ext cx="10668305" cy="5660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3300" dirty="0">
                <a:solidFill>
                  <a:srgbClr val="1D1D1F"/>
                </a:solidFill>
                <a:latin typeface="Segoe UI Semilight" pitchFamily="34" charset="0"/>
                <a:ea typeface="Segoe UI Semilight" pitchFamily="34" charset="-122"/>
                <a:cs typeface="Segoe UI Semilight" pitchFamily="34" charset="-120"/>
              </a:rPr>
              <a:t>System Context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61695" y="1815998"/>
            <a:ext cx="10668305" cy="0"/>
          </a:xfrm>
          <a:prstGeom prst="line">
            <a:avLst/>
          </a:prstGeom>
          <a:noFill/>
          <a:ln w="12700">
            <a:solidFill>
              <a:srgbClr val="DA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1695" y="1946758"/>
            <a:ext cx="10668305" cy="1975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use-case view — actors, the platform boundary and external services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10360152" cy="4023360"/>
          </a:xfrm>
          <a:prstGeom prst="roundRect">
            <a:avLst>
              <a:gd name="adj" fmla="val 3159"/>
            </a:avLst>
          </a:prstGeom>
          <a:solidFill>
            <a:srgbClr val="FCFBF7"/>
          </a:solidFill>
          <a:ln w="19050">
            <a:solidFill>
              <a:srgbClr val="DAD4C4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079906" y="2451506"/>
            <a:ext cx="190195" cy="0"/>
          </a:xfrm>
          <a:prstGeom prst="line">
            <a:avLst/>
          </a:prstGeom>
          <a:noFill/>
          <a:ln w="19050">
            <a:solidFill>
              <a:srgbClr val="DAD4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9906" y="2451506"/>
            <a:ext cx="0" cy="190195"/>
          </a:xfrm>
          <a:prstGeom prst="line">
            <a:avLst/>
          </a:prstGeom>
          <a:noFill/>
          <a:ln w="19050">
            <a:solidFill>
              <a:srgbClr val="DAD4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10918850" y="2451506"/>
            <a:ext cx="190195" cy="0"/>
          </a:xfrm>
          <a:prstGeom prst="line">
            <a:avLst/>
          </a:prstGeom>
          <a:noFill/>
          <a:ln w="19050">
            <a:solidFill>
              <a:srgbClr val="DAD4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09046" y="2451506"/>
            <a:ext cx="0" cy="190195"/>
          </a:xfrm>
          <a:prstGeom prst="line">
            <a:avLst/>
          </a:prstGeom>
          <a:noFill/>
          <a:ln w="19050">
            <a:solidFill>
              <a:srgbClr val="DAD4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9906" y="6143854"/>
            <a:ext cx="190195" cy="0"/>
          </a:xfrm>
          <a:prstGeom prst="line">
            <a:avLst/>
          </a:prstGeom>
          <a:noFill/>
          <a:ln w="19050">
            <a:solidFill>
              <a:srgbClr val="DAD4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079906" y="5953658"/>
            <a:ext cx="0" cy="190195"/>
          </a:xfrm>
          <a:prstGeom prst="line">
            <a:avLst/>
          </a:prstGeom>
          <a:noFill/>
          <a:ln w="19050">
            <a:solidFill>
              <a:srgbClr val="DAD4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10918850" y="6143854"/>
            <a:ext cx="190195" cy="0"/>
          </a:xfrm>
          <a:prstGeom prst="line">
            <a:avLst/>
          </a:prstGeom>
          <a:noFill/>
          <a:ln w="19050">
            <a:solidFill>
              <a:srgbClr val="DAD4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11109046" y="5953658"/>
            <a:ext cx="0" cy="190195"/>
          </a:xfrm>
          <a:prstGeom prst="line">
            <a:avLst/>
          </a:prstGeom>
          <a:noFill/>
          <a:ln w="19050">
            <a:solidFill>
              <a:srgbClr val="DA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0594" y="4206240"/>
            <a:ext cx="6349594" cy="1883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UML diagram area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1695" y="6424574"/>
            <a:ext cx="10668305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kern="0" spc="70" dirty="0">
                <a:solidFill>
                  <a:srgbClr val="8A86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CarthaPOS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761695" y="6424574"/>
            <a:ext cx="10668305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70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20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914400" y="2286000"/>
            <a:ext cx="10360152" cy="4023360"/>
          </a:xfrm>
          <a:prstGeom prst="roundRect">
            <a:avLst>
              <a:gd name="adj" fmla="val 2727"/>
            </a:avLst>
          </a:prstGeom>
          <a:ln w="12700">
            <a:solidFill>
              <a:srgbClr val="B15A38">
                <a:alpha val="65000"/>
              </a:srgbClr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914400" y="5907024"/>
            <a:ext cx="10360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◇  Insert your existing UML diagram here, then delete this note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848563"/>
            <a:ext cx="1066830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kern="0" spc="170" dirty="0">
                <a:solidFill>
                  <a:srgbClr val="B15A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 · REQUIREMENTS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61695" y="1070762"/>
            <a:ext cx="10668305" cy="5660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3300" dirty="0">
                <a:solidFill>
                  <a:srgbClr val="1D1D1F"/>
                </a:solidFill>
                <a:latin typeface="Segoe UI Semilight" pitchFamily="34" charset="0"/>
                <a:ea typeface="Segoe UI Semilight" pitchFamily="34" charset="-122"/>
                <a:cs typeface="Segoe UI Semilight" pitchFamily="34" charset="-120"/>
              </a:rPr>
              <a:t>Global Class Architecture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61695" y="1815998"/>
            <a:ext cx="10668305" cy="0"/>
          </a:xfrm>
          <a:prstGeom prst="line">
            <a:avLst/>
          </a:prstGeom>
          <a:noFill/>
          <a:ln w="12700">
            <a:solidFill>
              <a:srgbClr val="DA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1695" y="1946758"/>
            <a:ext cx="10668305" cy="1975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domain model — clients, licences, modules, POS projects and BI entities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10360152" cy="4023360"/>
          </a:xfrm>
          <a:prstGeom prst="roundRect">
            <a:avLst>
              <a:gd name="adj" fmla="val 3159"/>
            </a:avLst>
          </a:prstGeom>
          <a:solidFill>
            <a:srgbClr val="FCFBF7"/>
          </a:solidFill>
          <a:ln w="19050">
            <a:solidFill>
              <a:srgbClr val="DAD4C4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079906" y="2451506"/>
            <a:ext cx="190195" cy="0"/>
          </a:xfrm>
          <a:prstGeom prst="line">
            <a:avLst/>
          </a:prstGeom>
          <a:noFill/>
          <a:ln w="19050">
            <a:solidFill>
              <a:srgbClr val="DAD4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9906" y="2451506"/>
            <a:ext cx="0" cy="190195"/>
          </a:xfrm>
          <a:prstGeom prst="line">
            <a:avLst/>
          </a:prstGeom>
          <a:noFill/>
          <a:ln w="19050">
            <a:solidFill>
              <a:srgbClr val="DAD4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10918850" y="2451506"/>
            <a:ext cx="190195" cy="0"/>
          </a:xfrm>
          <a:prstGeom prst="line">
            <a:avLst/>
          </a:prstGeom>
          <a:noFill/>
          <a:ln w="19050">
            <a:solidFill>
              <a:srgbClr val="DAD4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09046" y="2451506"/>
            <a:ext cx="0" cy="190195"/>
          </a:xfrm>
          <a:prstGeom prst="line">
            <a:avLst/>
          </a:prstGeom>
          <a:noFill/>
          <a:ln w="19050">
            <a:solidFill>
              <a:srgbClr val="DAD4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9906" y="6143854"/>
            <a:ext cx="190195" cy="0"/>
          </a:xfrm>
          <a:prstGeom prst="line">
            <a:avLst/>
          </a:prstGeom>
          <a:noFill/>
          <a:ln w="19050">
            <a:solidFill>
              <a:srgbClr val="DAD4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079906" y="5953658"/>
            <a:ext cx="0" cy="190195"/>
          </a:xfrm>
          <a:prstGeom prst="line">
            <a:avLst/>
          </a:prstGeom>
          <a:noFill/>
          <a:ln w="19050">
            <a:solidFill>
              <a:srgbClr val="DAD4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10918850" y="6143854"/>
            <a:ext cx="190195" cy="0"/>
          </a:xfrm>
          <a:prstGeom prst="line">
            <a:avLst/>
          </a:prstGeom>
          <a:noFill/>
          <a:ln w="19050">
            <a:solidFill>
              <a:srgbClr val="DAD4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11109046" y="5953658"/>
            <a:ext cx="0" cy="190195"/>
          </a:xfrm>
          <a:prstGeom prst="line">
            <a:avLst/>
          </a:prstGeom>
          <a:noFill/>
          <a:ln w="19050">
            <a:solidFill>
              <a:srgbClr val="DA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0594" y="4206240"/>
            <a:ext cx="6349594" cy="1883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UML diagram area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1695" y="6424574"/>
            <a:ext cx="10668305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kern="0" spc="70" dirty="0">
                <a:solidFill>
                  <a:srgbClr val="8A86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CarthaPOS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761695" y="6424574"/>
            <a:ext cx="10668305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70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20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914400" y="2286000"/>
            <a:ext cx="10360152" cy="4023360"/>
          </a:xfrm>
          <a:prstGeom prst="roundRect">
            <a:avLst>
              <a:gd name="adj" fmla="val 2727"/>
            </a:avLst>
          </a:prstGeom>
          <a:ln w="12700">
            <a:solidFill>
              <a:srgbClr val="B15A38">
                <a:alpha val="65000"/>
              </a:srgbClr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914400" y="5907024"/>
            <a:ext cx="10360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◇  Insert your existing UML diagram here, then delete this note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848563"/>
            <a:ext cx="1066830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kern="0" spc="170" dirty="0">
                <a:solidFill>
                  <a:srgbClr val="B15A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 · 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61695" y="1070762"/>
            <a:ext cx="10668305" cy="5660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3300" dirty="0">
                <a:solidFill>
                  <a:srgbClr val="1D1D1F"/>
                </a:solidFill>
                <a:latin typeface="Segoe UI Semilight" pitchFamily="34" charset="0"/>
                <a:ea typeface="Segoe UI Semilight" pitchFamily="34" charset="-122"/>
                <a:cs typeface="Segoe UI Semilight" pitchFamily="34" charset="-120"/>
              </a:rPr>
              <a:t>Technical Architecture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61695" y="1815998"/>
            <a:ext cx="10668305" cy="0"/>
          </a:xfrm>
          <a:prstGeom prst="line">
            <a:avLst/>
          </a:prstGeom>
          <a:noFill/>
          <a:ln w="12700">
            <a:solidFill>
              <a:srgbClr val="DA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1695" y="1946758"/>
            <a:ext cx="10668305" cy="1975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independently deployed projects around one API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61695" y="2463394"/>
            <a:ext cx="2488997" cy="1701698"/>
          </a:xfrm>
          <a:prstGeom prst="roundRect">
            <a:avLst>
              <a:gd name="adj" fmla="val 7469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1695" y="2577694"/>
            <a:ext cx="25603" cy="1473098"/>
          </a:xfrm>
          <a:prstGeom prst="roundRect">
            <a:avLst>
              <a:gd name="adj" fmla="val 50000"/>
            </a:avLst>
          </a:prstGeom>
          <a:solidFill>
            <a:srgbClr val="B15A38"/>
          </a:solidFill>
          <a:ln/>
        </p:spPr>
      </p:sp>
      <p:sp>
        <p:nvSpPr>
          <p:cNvPr id="8" name="Text 6"/>
          <p:cNvSpPr/>
          <p:nvPr/>
        </p:nvSpPr>
        <p:spPr>
          <a:xfrm>
            <a:off x="977494" y="2663647"/>
            <a:ext cx="2108606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BACKEND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0237" y="3050438"/>
            <a:ext cx="32918" cy="32918"/>
          </a:xfrm>
          <a:prstGeom prst="ellipse">
            <a:avLst/>
          </a:prstGeom>
          <a:solidFill>
            <a:srgbClr val="8A867C"/>
          </a:solidFill>
          <a:ln/>
        </p:spPr>
      </p:sp>
      <p:sp>
        <p:nvSpPr>
          <p:cNvPr id="10" name="Text 8"/>
          <p:cNvSpPr/>
          <p:nvPr/>
        </p:nvSpPr>
        <p:spPr>
          <a:xfrm>
            <a:off x="1117397" y="2988259"/>
            <a:ext cx="204459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· Express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980237" y="3279038"/>
            <a:ext cx="32918" cy="32918"/>
          </a:xfrm>
          <a:prstGeom prst="ellipse">
            <a:avLst/>
          </a:prstGeom>
          <a:solidFill>
            <a:srgbClr val="8A867C"/>
          </a:solidFill>
          <a:ln/>
        </p:spPr>
      </p:sp>
      <p:sp>
        <p:nvSpPr>
          <p:cNvPr id="12" name="Text 10"/>
          <p:cNvSpPr/>
          <p:nvPr/>
        </p:nvSpPr>
        <p:spPr>
          <a:xfrm>
            <a:off x="1117397" y="3216859"/>
            <a:ext cx="204459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Prisma · PostgreSQL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80237" y="3507638"/>
            <a:ext cx="32918" cy="32918"/>
          </a:xfrm>
          <a:prstGeom prst="ellipse">
            <a:avLst/>
          </a:prstGeom>
          <a:solidFill>
            <a:srgbClr val="8A867C"/>
          </a:solidFill>
          <a:ln/>
        </p:spPr>
      </p:sp>
      <p:sp>
        <p:nvSpPr>
          <p:cNvPr id="14" name="Text 12"/>
          <p:cNvSpPr/>
          <p:nvPr/>
        </p:nvSpPr>
        <p:spPr>
          <a:xfrm>
            <a:off x="1117397" y="3445459"/>
            <a:ext cx="204459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API for everything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006194" y="4229100"/>
            <a:ext cx="0" cy="304495"/>
          </a:xfrm>
          <a:prstGeom prst="line">
            <a:avLst/>
          </a:prstGeom>
          <a:noFill/>
          <a:ln w="20320">
            <a:solidFill>
              <a:srgbClr val="DAD4C4"/>
            </a:solidFill>
            <a:prstDash val="dash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488436" y="2463394"/>
            <a:ext cx="2488997" cy="1701698"/>
          </a:xfrm>
          <a:prstGeom prst="roundRect">
            <a:avLst>
              <a:gd name="adj" fmla="val 7469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88436" y="2577694"/>
            <a:ext cx="25603" cy="1473098"/>
          </a:xfrm>
          <a:prstGeom prst="roundRect">
            <a:avLst>
              <a:gd name="adj" fmla="val 50000"/>
            </a:avLst>
          </a:prstGeom>
          <a:solidFill>
            <a:srgbClr val="4A6B86"/>
          </a:solidFill>
          <a:ln/>
        </p:spPr>
      </p:sp>
      <p:sp>
        <p:nvSpPr>
          <p:cNvPr id="18" name="Text 16"/>
          <p:cNvSpPr/>
          <p:nvPr/>
        </p:nvSpPr>
        <p:spPr>
          <a:xfrm>
            <a:off x="3704234" y="2663647"/>
            <a:ext cx="2108606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ADMIN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706978" y="3050438"/>
            <a:ext cx="32918" cy="32918"/>
          </a:xfrm>
          <a:prstGeom prst="ellipse">
            <a:avLst/>
          </a:prstGeom>
          <a:solidFill>
            <a:srgbClr val="8A867C"/>
          </a:solidFill>
          <a:ln/>
        </p:spPr>
      </p:sp>
      <p:sp>
        <p:nvSpPr>
          <p:cNvPr id="20" name="Text 18"/>
          <p:cNvSpPr/>
          <p:nvPr/>
        </p:nvSpPr>
        <p:spPr>
          <a:xfrm>
            <a:off x="3844138" y="2988259"/>
            <a:ext cx="204459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· Vite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706978" y="3279038"/>
            <a:ext cx="32918" cy="32918"/>
          </a:xfrm>
          <a:prstGeom prst="ellipse">
            <a:avLst/>
          </a:prstGeom>
          <a:solidFill>
            <a:srgbClr val="8A867C"/>
          </a:solidFill>
          <a:ln/>
        </p:spPr>
      </p:sp>
      <p:sp>
        <p:nvSpPr>
          <p:cNvPr id="22" name="Text 20"/>
          <p:cNvSpPr/>
          <p:nvPr/>
        </p:nvSpPr>
        <p:spPr>
          <a:xfrm>
            <a:off x="3844138" y="3216859"/>
            <a:ext cx="204459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shadcn / Radix UI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706978" y="3507638"/>
            <a:ext cx="32918" cy="32918"/>
          </a:xfrm>
          <a:prstGeom prst="ellipse">
            <a:avLst/>
          </a:prstGeom>
          <a:solidFill>
            <a:srgbClr val="8A867C"/>
          </a:solidFill>
          <a:ln/>
        </p:spPr>
      </p:sp>
      <p:sp>
        <p:nvSpPr>
          <p:cNvPr id="24" name="Text 22"/>
          <p:cNvSpPr/>
          <p:nvPr/>
        </p:nvSpPr>
        <p:spPr>
          <a:xfrm>
            <a:off x="3844138" y="3445459"/>
            <a:ext cx="204459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control panel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32934" y="4229100"/>
            <a:ext cx="0" cy="304495"/>
          </a:xfrm>
          <a:prstGeom prst="line">
            <a:avLst/>
          </a:prstGeom>
          <a:noFill/>
          <a:ln w="20320">
            <a:solidFill>
              <a:srgbClr val="DAD4C4"/>
            </a:solidFill>
            <a:prstDash val="dash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214262" y="2463394"/>
            <a:ext cx="2488997" cy="1701698"/>
          </a:xfrm>
          <a:prstGeom prst="roundRect">
            <a:avLst>
              <a:gd name="adj" fmla="val 7469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4262" y="2577694"/>
            <a:ext cx="25603" cy="1473098"/>
          </a:xfrm>
          <a:prstGeom prst="roundRect">
            <a:avLst>
              <a:gd name="adj" fmla="val 50000"/>
            </a:avLst>
          </a:prstGeom>
          <a:solidFill>
            <a:srgbClr val="43695E"/>
          </a:solidFill>
          <a:ln/>
        </p:spPr>
      </p:sp>
      <p:sp>
        <p:nvSpPr>
          <p:cNvPr id="28" name="Text 26"/>
          <p:cNvSpPr/>
          <p:nvPr/>
        </p:nvSpPr>
        <p:spPr>
          <a:xfrm>
            <a:off x="6430061" y="2663647"/>
            <a:ext cx="2108606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POS TEMPLATE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32804" y="3050438"/>
            <a:ext cx="32918" cy="32918"/>
          </a:xfrm>
          <a:prstGeom prst="ellipse">
            <a:avLst/>
          </a:prstGeom>
          <a:solidFill>
            <a:srgbClr val="8A867C"/>
          </a:solidFill>
          <a:ln/>
        </p:spPr>
      </p:sp>
      <p:sp>
        <p:nvSpPr>
          <p:cNvPr id="30" name="Text 28"/>
          <p:cNvSpPr/>
          <p:nvPr/>
        </p:nvSpPr>
        <p:spPr>
          <a:xfrm>
            <a:off x="6569964" y="2988259"/>
            <a:ext cx="204459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Electron · React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32804" y="3279038"/>
            <a:ext cx="32918" cy="32918"/>
          </a:xfrm>
          <a:prstGeom prst="ellipse">
            <a:avLst/>
          </a:prstGeom>
          <a:solidFill>
            <a:srgbClr val="8A867C"/>
          </a:solidFill>
          <a:ln/>
        </p:spPr>
      </p:sp>
      <p:sp>
        <p:nvSpPr>
          <p:cNvPr id="32" name="Text 30"/>
          <p:cNvSpPr/>
          <p:nvPr/>
        </p:nvSpPr>
        <p:spPr>
          <a:xfrm>
            <a:off x="6569964" y="3216859"/>
            <a:ext cx="204459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— offline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32804" y="3507638"/>
            <a:ext cx="32918" cy="32918"/>
          </a:xfrm>
          <a:prstGeom prst="ellipse">
            <a:avLst/>
          </a:prstGeom>
          <a:solidFill>
            <a:srgbClr val="8A867C"/>
          </a:solidFill>
          <a:ln/>
        </p:spPr>
      </p:sp>
      <p:sp>
        <p:nvSpPr>
          <p:cNvPr id="34" name="Text 32"/>
          <p:cNvSpPr/>
          <p:nvPr/>
        </p:nvSpPr>
        <p:spPr>
          <a:xfrm>
            <a:off x="6569964" y="3445459"/>
            <a:ext cx="204459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Blueprint per client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458761" y="4229100"/>
            <a:ext cx="0" cy="304495"/>
          </a:xfrm>
          <a:prstGeom prst="line">
            <a:avLst/>
          </a:prstGeom>
          <a:noFill/>
          <a:ln w="20320">
            <a:solidFill>
              <a:srgbClr val="DAD4C4"/>
            </a:solidFill>
            <a:prstDash val="dash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941003" y="2463394"/>
            <a:ext cx="2488997" cy="1701698"/>
          </a:xfrm>
          <a:prstGeom prst="roundRect">
            <a:avLst>
              <a:gd name="adj" fmla="val 7469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941003" y="2577694"/>
            <a:ext cx="25603" cy="1473098"/>
          </a:xfrm>
          <a:prstGeom prst="roundRect">
            <a:avLst>
              <a:gd name="adj" fmla="val 50000"/>
            </a:avLst>
          </a:prstGeom>
          <a:solidFill>
            <a:srgbClr val="8A867C"/>
          </a:solidFill>
          <a:ln/>
        </p:spPr>
      </p:sp>
      <p:sp>
        <p:nvSpPr>
          <p:cNvPr id="38" name="Text 36"/>
          <p:cNvSpPr/>
          <p:nvPr/>
        </p:nvSpPr>
        <p:spPr>
          <a:xfrm>
            <a:off x="9156802" y="2663647"/>
            <a:ext cx="2108606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FRONTEND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159545" y="3050438"/>
            <a:ext cx="32918" cy="32918"/>
          </a:xfrm>
          <a:prstGeom prst="ellipse">
            <a:avLst/>
          </a:prstGeom>
          <a:solidFill>
            <a:srgbClr val="8A867C"/>
          </a:solidFill>
          <a:ln/>
        </p:spPr>
      </p:sp>
      <p:sp>
        <p:nvSpPr>
          <p:cNvPr id="40" name="Text 38"/>
          <p:cNvSpPr/>
          <p:nvPr/>
        </p:nvSpPr>
        <p:spPr>
          <a:xfrm>
            <a:off x="9296705" y="2988259"/>
            <a:ext cx="204459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· Vite · TS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159545" y="3279038"/>
            <a:ext cx="32918" cy="32918"/>
          </a:xfrm>
          <a:prstGeom prst="ellipse">
            <a:avLst/>
          </a:prstGeom>
          <a:solidFill>
            <a:srgbClr val="8A867C"/>
          </a:solidFill>
          <a:ln/>
        </p:spPr>
      </p:sp>
      <p:sp>
        <p:nvSpPr>
          <p:cNvPr id="42" name="Text 40"/>
          <p:cNvSpPr/>
          <p:nvPr/>
        </p:nvSpPr>
        <p:spPr>
          <a:xfrm>
            <a:off x="9296705" y="3216859"/>
            <a:ext cx="204459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portal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159545" y="3507638"/>
            <a:ext cx="32918" cy="32918"/>
          </a:xfrm>
          <a:prstGeom prst="ellipse">
            <a:avLst/>
          </a:prstGeom>
          <a:solidFill>
            <a:srgbClr val="8A867C"/>
          </a:solidFill>
          <a:ln/>
        </p:spPr>
      </p:sp>
      <p:sp>
        <p:nvSpPr>
          <p:cNvPr id="44" name="Text 42"/>
          <p:cNvSpPr/>
          <p:nvPr/>
        </p:nvSpPr>
        <p:spPr>
          <a:xfrm>
            <a:off x="9296705" y="3445459"/>
            <a:ext cx="204459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Marketing site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0185502" y="4229100"/>
            <a:ext cx="0" cy="304495"/>
          </a:xfrm>
          <a:prstGeom prst="line">
            <a:avLst/>
          </a:prstGeom>
          <a:noFill/>
          <a:ln w="20320">
            <a:solidFill>
              <a:srgbClr val="DAD4C4"/>
            </a:solidFill>
            <a:prstDash val="dash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761695" y="4635094"/>
            <a:ext cx="10668305" cy="952805"/>
          </a:xfrm>
          <a:prstGeom prst="roundRect">
            <a:avLst>
              <a:gd name="adj" fmla="val 14683"/>
            </a:avLst>
          </a:prstGeom>
          <a:solidFill>
            <a:srgbClr val="EFEBDF"/>
          </a:solidFill>
          <a:ln w="12700">
            <a:solidFill>
              <a:srgbClr val="E6E1D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77494" y="4805172"/>
            <a:ext cx="10452506" cy="1115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kern="0" spc="130" dirty="0">
                <a:solidFill>
                  <a:srgbClr val="8A86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PLATFORM INFRASTRUCTURE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1028700" y="5175504"/>
            <a:ext cx="127102" cy="139903"/>
          </a:xfrm>
          <a:prstGeom prst="can">
            <a:avLst/>
          </a:prstGeom>
          <a:ln w="27940">
            <a:solidFill>
              <a:srgbClr val="4A6B8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270102" y="5159959"/>
            <a:ext cx="1730045" cy="1453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 SaaS database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897734" y="5054803"/>
            <a:ext cx="0" cy="381305"/>
          </a:xfrm>
          <a:prstGeom prst="line">
            <a:avLst/>
          </a:prstGeom>
          <a:noFill/>
          <a:ln w="12700">
            <a:solidFill>
              <a:srgbClr val="DAD4C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076042" y="5175504"/>
            <a:ext cx="127102" cy="139903"/>
          </a:xfrm>
          <a:prstGeom prst="can">
            <a:avLst/>
          </a:prstGeom>
          <a:ln w="27940">
            <a:solidFill>
              <a:srgbClr val="4A6B8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17443" y="5159959"/>
            <a:ext cx="1730045" cy="1453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 warehouse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945075" y="5054803"/>
            <a:ext cx="0" cy="381305"/>
          </a:xfrm>
          <a:prstGeom prst="line">
            <a:avLst/>
          </a:prstGeom>
          <a:noFill/>
          <a:ln w="12700">
            <a:solidFill>
              <a:srgbClr val="DAD4C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123383" y="5169103"/>
            <a:ext cx="127102" cy="152705"/>
          </a:xfrm>
          <a:prstGeom prst="roundRect">
            <a:avLst>
              <a:gd name="adj" fmla="val 10072"/>
            </a:avLst>
          </a:prstGeom>
          <a:ln w="27940">
            <a:solidFill>
              <a:srgbClr val="4A6B8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205679" y="5169103"/>
            <a:ext cx="0" cy="44806"/>
          </a:xfrm>
          <a:prstGeom prst="line">
            <a:avLst/>
          </a:prstGeom>
          <a:noFill/>
          <a:ln w="30480">
            <a:solidFill>
              <a:srgbClr val="4A6B8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205679" y="5212994"/>
            <a:ext cx="44806" cy="0"/>
          </a:xfrm>
          <a:prstGeom prst="line">
            <a:avLst/>
          </a:prstGeom>
          <a:noFill/>
          <a:ln w="30480">
            <a:solidFill>
              <a:srgbClr val="4A6B8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154473" y="5238598"/>
            <a:ext cx="63094" cy="0"/>
          </a:xfrm>
          <a:prstGeom prst="line">
            <a:avLst/>
          </a:prstGeom>
          <a:noFill/>
          <a:ln w="22860">
            <a:solidFill>
              <a:srgbClr val="4A6B8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154473" y="5277002"/>
            <a:ext cx="63094" cy="0"/>
          </a:xfrm>
          <a:prstGeom prst="line">
            <a:avLst/>
          </a:prstGeom>
          <a:noFill/>
          <a:ln w="22860">
            <a:solidFill>
              <a:srgbClr val="4A6B8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64785" y="5159959"/>
            <a:ext cx="1730045" cy="1453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992417" y="5054803"/>
            <a:ext cx="0" cy="381305"/>
          </a:xfrm>
          <a:prstGeom prst="line">
            <a:avLst/>
          </a:prstGeom>
          <a:noFill/>
          <a:ln w="12700">
            <a:solidFill>
              <a:srgbClr val="DAD4C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164324" y="5302606"/>
            <a:ext cx="139903" cy="0"/>
          </a:xfrm>
          <a:prstGeom prst="line">
            <a:avLst/>
          </a:prstGeom>
          <a:noFill/>
          <a:ln w="27940">
            <a:solidFill>
              <a:srgbClr val="4A6B8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7195414" y="5257800"/>
            <a:ext cx="0" cy="44806"/>
          </a:xfrm>
          <a:prstGeom prst="line">
            <a:avLst/>
          </a:prstGeom>
          <a:noFill/>
          <a:ln w="30480">
            <a:solidFill>
              <a:srgbClr val="4A6B8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7233818" y="5219395"/>
            <a:ext cx="0" cy="82296"/>
          </a:xfrm>
          <a:prstGeom prst="line">
            <a:avLst/>
          </a:prstGeom>
          <a:noFill/>
          <a:ln w="30480">
            <a:solidFill>
              <a:srgbClr val="4A6B8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7272223" y="5270602"/>
            <a:ext cx="0" cy="32004"/>
          </a:xfrm>
          <a:prstGeom prst="line">
            <a:avLst/>
          </a:prstGeom>
          <a:noFill/>
          <a:ln w="30480">
            <a:solidFill>
              <a:srgbClr val="4A6B8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412126" y="5159959"/>
            <a:ext cx="1730045" cy="1453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Metabase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9039758" y="5054803"/>
            <a:ext cx="0" cy="381305"/>
          </a:xfrm>
          <a:prstGeom prst="line">
            <a:avLst/>
          </a:prstGeom>
          <a:noFill/>
          <a:ln w="12700">
            <a:solidFill>
              <a:srgbClr val="DAD4C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9281160" y="5181905"/>
            <a:ext cx="0" cy="133502"/>
          </a:xfrm>
          <a:prstGeom prst="line">
            <a:avLst/>
          </a:prstGeom>
          <a:noFill/>
          <a:ln w="30480">
            <a:solidFill>
              <a:srgbClr val="4A6B8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9229954" y="5181905"/>
            <a:ext cx="51206" cy="51206"/>
          </a:xfrm>
          <a:prstGeom prst="line">
            <a:avLst/>
          </a:prstGeom>
          <a:noFill/>
          <a:ln w="30480">
            <a:solidFill>
              <a:srgbClr val="4A6B8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H="1" flipV="1">
            <a:off x="9281160" y="5181905"/>
            <a:ext cx="51206" cy="51206"/>
          </a:xfrm>
          <a:prstGeom prst="line">
            <a:avLst/>
          </a:prstGeom>
          <a:noFill/>
          <a:ln w="30480">
            <a:solidFill>
              <a:srgbClr val="4A6B8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211666" y="5315407"/>
            <a:ext cx="139903" cy="0"/>
          </a:xfrm>
          <a:prstGeom prst="line">
            <a:avLst/>
          </a:prstGeom>
          <a:noFill/>
          <a:ln w="27940">
            <a:solidFill>
              <a:srgbClr val="4A6B8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458554" y="5159959"/>
            <a:ext cx="1730045" cy="1453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Render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761695" y="6424574"/>
            <a:ext cx="10668305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kern="0" spc="70" dirty="0">
                <a:solidFill>
                  <a:srgbClr val="8A86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CarthaPOS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761695" y="6424574"/>
            <a:ext cx="10668305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70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20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848563"/>
            <a:ext cx="1066830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kern="0" spc="170" dirty="0">
                <a:solidFill>
                  <a:srgbClr val="B15A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 · FUNCTIONAL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61695" y="1070762"/>
            <a:ext cx="10668305" cy="5660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3300" dirty="0">
                <a:solidFill>
                  <a:srgbClr val="1D1D1F"/>
                </a:solidFill>
                <a:latin typeface="Segoe UI Semilight" pitchFamily="34" charset="0"/>
                <a:ea typeface="Segoe UI Semilight" pitchFamily="34" charset="-122"/>
                <a:cs typeface="Segoe UI Semilight" pitchFamily="34" charset="-120"/>
              </a:rPr>
              <a:t>Platform Functional Architecture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61695" y="1815998"/>
            <a:ext cx="10668305" cy="0"/>
          </a:xfrm>
          <a:prstGeom prst="line">
            <a:avLst/>
          </a:prstGeom>
          <a:noFill/>
          <a:ln w="12700">
            <a:solidFill>
              <a:srgbClr val="DA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1695" y="1946758"/>
            <a:ext cx="10668305" cy="1975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functional domains served by one shared backend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0" y="2514600"/>
            <a:ext cx="3047695" cy="508406"/>
          </a:xfrm>
          <a:prstGeom prst="roundRect">
            <a:avLst>
              <a:gd name="adj" fmla="val 50000"/>
            </a:avLst>
          </a:prstGeom>
          <a:solidFill>
            <a:srgbClr val="EFEBDF"/>
          </a:solidFill>
          <a:ln w="25400">
            <a:solidFill>
              <a:srgbClr val="B15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2644445"/>
            <a:ext cx="3047695" cy="2139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CarthaPOS Platform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96305" y="3023006"/>
            <a:ext cx="0" cy="279806"/>
          </a:xfrm>
          <a:prstGeom prst="line">
            <a:avLst/>
          </a:prstGeom>
          <a:noFill/>
          <a:ln w="17780">
            <a:solidFill>
              <a:srgbClr val="DAD4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3702" y="3301898"/>
            <a:ext cx="8725205" cy="0"/>
          </a:xfrm>
          <a:prstGeom prst="line">
            <a:avLst/>
          </a:prstGeom>
          <a:noFill/>
          <a:ln w="17780">
            <a:solidFill>
              <a:srgbClr val="DAD4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3702" y="3301898"/>
            <a:ext cx="0" cy="254203"/>
          </a:xfrm>
          <a:prstGeom prst="line">
            <a:avLst/>
          </a:prstGeom>
          <a:noFill/>
          <a:ln w="17780">
            <a:solidFill>
              <a:srgbClr val="DAD4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1695" y="3556102"/>
            <a:ext cx="1943100" cy="584302"/>
          </a:xfrm>
          <a:prstGeom prst="roundRect">
            <a:avLst>
              <a:gd name="adj" fmla="val 23944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8505" y="3693262"/>
            <a:ext cx="1790395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Client Portal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51306" y="4394606"/>
            <a:ext cx="1765706" cy="304495"/>
          </a:xfrm>
          <a:prstGeom prst="roundRect">
            <a:avLst>
              <a:gd name="adj" fmla="val 20721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9439" y="4529938"/>
            <a:ext cx="32918" cy="32918"/>
          </a:xfrm>
          <a:prstGeom prst="ellipse">
            <a:avLst/>
          </a:prstGeom>
          <a:solidFill>
            <a:srgbClr val="B15A38"/>
          </a:solidFill>
          <a:ln/>
        </p:spPr>
      </p:sp>
      <p:sp>
        <p:nvSpPr>
          <p:cNvPr id="15" name="Text 13"/>
          <p:cNvSpPr/>
          <p:nvPr/>
        </p:nvSpPr>
        <p:spPr>
          <a:xfrm>
            <a:off x="1130198" y="4477817"/>
            <a:ext cx="1371600" cy="132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8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projects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851306" y="4800600"/>
            <a:ext cx="1765706" cy="304495"/>
          </a:xfrm>
          <a:prstGeom prst="roundRect">
            <a:avLst>
              <a:gd name="adj" fmla="val 20721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9439" y="4936846"/>
            <a:ext cx="32918" cy="32918"/>
          </a:xfrm>
          <a:prstGeom prst="ellipse">
            <a:avLst/>
          </a:prstGeom>
          <a:solidFill>
            <a:srgbClr val="B15A38"/>
          </a:solidFill>
          <a:ln/>
        </p:spPr>
      </p:sp>
      <p:sp>
        <p:nvSpPr>
          <p:cNvPr id="18" name="Text 16"/>
          <p:cNvSpPr/>
          <p:nvPr/>
        </p:nvSpPr>
        <p:spPr>
          <a:xfrm>
            <a:off x="1130198" y="4884725"/>
            <a:ext cx="1371600" cy="132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8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Re-generation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851306" y="5206594"/>
            <a:ext cx="1765706" cy="304495"/>
          </a:xfrm>
          <a:prstGeom prst="roundRect">
            <a:avLst>
              <a:gd name="adj" fmla="val 20721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9439" y="5342839"/>
            <a:ext cx="32918" cy="32918"/>
          </a:xfrm>
          <a:prstGeom prst="ellipse">
            <a:avLst/>
          </a:prstGeom>
          <a:solidFill>
            <a:srgbClr val="B15A38"/>
          </a:solidFill>
          <a:ln/>
        </p:spPr>
      </p:sp>
      <p:sp>
        <p:nvSpPr>
          <p:cNvPr id="21" name="Text 19"/>
          <p:cNvSpPr/>
          <p:nvPr/>
        </p:nvSpPr>
        <p:spPr>
          <a:xfrm>
            <a:off x="1130198" y="5290718"/>
            <a:ext cx="1371600" cy="132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8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Modules &amp; billing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3914546" y="3301898"/>
            <a:ext cx="0" cy="254203"/>
          </a:xfrm>
          <a:prstGeom prst="line">
            <a:avLst/>
          </a:prstGeom>
          <a:noFill/>
          <a:ln w="17780">
            <a:solidFill>
              <a:srgbClr val="DAD4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43454" y="3556102"/>
            <a:ext cx="1943100" cy="584302"/>
          </a:xfrm>
          <a:prstGeom prst="roundRect">
            <a:avLst>
              <a:gd name="adj" fmla="val 23944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9349" y="3693262"/>
            <a:ext cx="1790395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Administration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032150" y="4394606"/>
            <a:ext cx="1765706" cy="304495"/>
          </a:xfrm>
          <a:prstGeom prst="roundRect">
            <a:avLst>
              <a:gd name="adj" fmla="val 20721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80283" y="4529938"/>
            <a:ext cx="32918" cy="32918"/>
          </a:xfrm>
          <a:prstGeom prst="ellipse">
            <a:avLst/>
          </a:prstGeom>
          <a:solidFill>
            <a:srgbClr val="B15A38"/>
          </a:solidFill>
          <a:ln/>
        </p:spPr>
      </p:sp>
      <p:sp>
        <p:nvSpPr>
          <p:cNvPr id="27" name="Text 25"/>
          <p:cNvSpPr/>
          <p:nvPr/>
        </p:nvSpPr>
        <p:spPr>
          <a:xfrm>
            <a:off x="3311957" y="4477817"/>
            <a:ext cx="1371600" cy="132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8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Clients &amp; licences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3032150" y="4800600"/>
            <a:ext cx="1765706" cy="304495"/>
          </a:xfrm>
          <a:prstGeom prst="roundRect">
            <a:avLst>
              <a:gd name="adj" fmla="val 20721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80283" y="4936846"/>
            <a:ext cx="32918" cy="32918"/>
          </a:xfrm>
          <a:prstGeom prst="ellipse">
            <a:avLst/>
          </a:prstGeom>
          <a:solidFill>
            <a:srgbClr val="B15A38"/>
          </a:solidFill>
          <a:ln/>
        </p:spPr>
      </p:sp>
      <p:sp>
        <p:nvSpPr>
          <p:cNvPr id="30" name="Text 28"/>
          <p:cNvSpPr/>
          <p:nvPr/>
        </p:nvSpPr>
        <p:spPr>
          <a:xfrm>
            <a:off x="3311957" y="4884725"/>
            <a:ext cx="1371600" cy="132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8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Modules &amp; sectors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3032150" y="5206594"/>
            <a:ext cx="1765706" cy="304495"/>
          </a:xfrm>
          <a:prstGeom prst="roundRect">
            <a:avLst>
              <a:gd name="adj" fmla="val 20721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80283" y="5342839"/>
            <a:ext cx="32918" cy="32918"/>
          </a:xfrm>
          <a:prstGeom prst="ellipse">
            <a:avLst/>
          </a:prstGeom>
          <a:solidFill>
            <a:srgbClr val="B15A38"/>
          </a:solidFill>
          <a:ln/>
        </p:spPr>
      </p:sp>
      <p:sp>
        <p:nvSpPr>
          <p:cNvPr id="33" name="Text 31"/>
          <p:cNvSpPr/>
          <p:nvPr/>
        </p:nvSpPr>
        <p:spPr>
          <a:xfrm>
            <a:off x="3311957" y="5290718"/>
            <a:ext cx="1371600" cy="132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8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· RBAC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6096305" y="3301898"/>
            <a:ext cx="0" cy="254203"/>
          </a:xfrm>
          <a:prstGeom prst="line">
            <a:avLst/>
          </a:prstGeom>
          <a:noFill/>
          <a:ln w="17780">
            <a:solidFill>
              <a:srgbClr val="DAD4C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24298" y="3556102"/>
            <a:ext cx="1943100" cy="584302"/>
          </a:xfrm>
          <a:prstGeom prst="roundRect">
            <a:avLst>
              <a:gd name="adj" fmla="val 23944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01107" y="3693262"/>
            <a:ext cx="1790395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POS Generation &amp; Licensing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212994" y="4394606"/>
            <a:ext cx="1765706" cy="304495"/>
          </a:xfrm>
          <a:prstGeom prst="roundRect">
            <a:avLst>
              <a:gd name="adj" fmla="val 20721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62042" y="4529938"/>
            <a:ext cx="32918" cy="32918"/>
          </a:xfrm>
          <a:prstGeom prst="ellipse">
            <a:avLst/>
          </a:prstGeom>
          <a:solidFill>
            <a:srgbClr val="B15A38"/>
          </a:solidFill>
          <a:ln/>
        </p:spPr>
      </p:sp>
      <p:sp>
        <p:nvSpPr>
          <p:cNvPr id="39" name="Text 37"/>
          <p:cNvSpPr/>
          <p:nvPr/>
        </p:nvSpPr>
        <p:spPr>
          <a:xfrm>
            <a:off x="5492801" y="4477817"/>
            <a:ext cx="1371600" cy="132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8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Guided wizard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5212994" y="4800600"/>
            <a:ext cx="1765706" cy="304495"/>
          </a:xfrm>
          <a:prstGeom prst="roundRect">
            <a:avLst>
              <a:gd name="adj" fmla="val 20721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362042" y="4936846"/>
            <a:ext cx="32918" cy="32918"/>
          </a:xfrm>
          <a:prstGeom prst="ellipse">
            <a:avLst/>
          </a:prstGeom>
          <a:solidFill>
            <a:srgbClr val="B15A38"/>
          </a:solidFill>
          <a:ln/>
        </p:spPr>
      </p:sp>
      <p:sp>
        <p:nvSpPr>
          <p:cNvPr id="42" name="Text 40"/>
          <p:cNvSpPr/>
          <p:nvPr/>
        </p:nvSpPr>
        <p:spPr>
          <a:xfrm>
            <a:off x="5492801" y="4884725"/>
            <a:ext cx="1371600" cy="132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8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pipeline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5212994" y="5206594"/>
            <a:ext cx="1765706" cy="304495"/>
          </a:xfrm>
          <a:prstGeom prst="roundRect">
            <a:avLst>
              <a:gd name="adj" fmla="val 20721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62042" y="5342839"/>
            <a:ext cx="32918" cy="32918"/>
          </a:xfrm>
          <a:prstGeom prst="ellipse">
            <a:avLst/>
          </a:prstGeom>
          <a:solidFill>
            <a:srgbClr val="B15A38"/>
          </a:solidFill>
          <a:ln/>
        </p:spPr>
      </p:sp>
      <p:sp>
        <p:nvSpPr>
          <p:cNvPr id="45" name="Text 43"/>
          <p:cNvSpPr/>
          <p:nvPr/>
        </p:nvSpPr>
        <p:spPr>
          <a:xfrm>
            <a:off x="5492801" y="5290718"/>
            <a:ext cx="1371600" cy="132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8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Signed licences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8277149" y="3301898"/>
            <a:ext cx="0" cy="254203"/>
          </a:xfrm>
          <a:prstGeom prst="line">
            <a:avLst/>
          </a:prstGeom>
          <a:noFill/>
          <a:ln w="17780">
            <a:solidFill>
              <a:srgbClr val="DAD4C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06056" y="3556102"/>
            <a:ext cx="1943100" cy="584302"/>
          </a:xfrm>
          <a:prstGeom prst="roundRect">
            <a:avLst>
              <a:gd name="adj" fmla="val 23944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81951" y="3693262"/>
            <a:ext cx="1790395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Generated POS Operations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394753" y="4394606"/>
            <a:ext cx="1765706" cy="304495"/>
          </a:xfrm>
          <a:prstGeom prst="roundRect">
            <a:avLst>
              <a:gd name="adj" fmla="val 20721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42886" y="4529938"/>
            <a:ext cx="32918" cy="32918"/>
          </a:xfrm>
          <a:prstGeom prst="ellipse">
            <a:avLst/>
          </a:prstGeom>
          <a:solidFill>
            <a:srgbClr val="B15A38"/>
          </a:solidFill>
          <a:ln/>
        </p:spPr>
      </p:sp>
      <p:sp>
        <p:nvSpPr>
          <p:cNvPr id="51" name="Text 49"/>
          <p:cNvSpPr/>
          <p:nvPr/>
        </p:nvSpPr>
        <p:spPr>
          <a:xfrm>
            <a:off x="7673645" y="4477817"/>
            <a:ext cx="1371600" cy="132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8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· stock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7394753" y="4800600"/>
            <a:ext cx="1765706" cy="304495"/>
          </a:xfrm>
          <a:prstGeom prst="roundRect">
            <a:avLst>
              <a:gd name="adj" fmla="val 20721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542886" y="4936846"/>
            <a:ext cx="32918" cy="32918"/>
          </a:xfrm>
          <a:prstGeom prst="ellipse">
            <a:avLst/>
          </a:prstGeom>
          <a:solidFill>
            <a:srgbClr val="B15A38"/>
          </a:solidFill>
          <a:ln/>
        </p:spPr>
      </p:sp>
      <p:sp>
        <p:nvSpPr>
          <p:cNvPr id="54" name="Text 52"/>
          <p:cNvSpPr/>
          <p:nvPr/>
        </p:nvSpPr>
        <p:spPr>
          <a:xfrm>
            <a:off x="7673645" y="4884725"/>
            <a:ext cx="1371600" cy="132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8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Sector modules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7394753" y="5206594"/>
            <a:ext cx="1765706" cy="304495"/>
          </a:xfrm>
          <a:prstGeom prst="roundRect">
            <a:avLst>
              <a:gd name="adj" fmla="val 20721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542886" y="5342839"/>
            <a:ext cx="32918" cy="32918"/>
          </a:xfrm>
          <a:prstGeom prst="ellipse">
            <a:avLst/>
          </a:prstGeom>
          <a:solidFill>
            <a:srgbClr val="B15A38"/>
          </a:solidFill>
          <a:ln/>
        </p:spPr>
      </p:sp>
      <p:sp>
        <p:nvSpPr>
          <p:cNvPr id="57" name="Text 55"/>
          <p:cNvSpPr/>
          <p:nvPr/>
        </p:nvSpPr>
        <p:spPr>
          <a:xfrm>
            <a:off x="7673645" y="5290718"/>
            <a:ext cx="1371600" cy="132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8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 export</a:t>
            </a:r>
            <a:endParaRPr lang="en-US" sz="780" dirty="0"/>
          </a:p>
        </p:txBody>
      </p:sp>
      <p:sp>
        <p:nvSpPr>
          <p:cNvPr id="58" name="Shape 56"/>
          <p:cNvSpPr/>
          <p:nvPr/>
        </p:nvSpPr>
        <p:spPr>
          <a:xfrm>
            <a:off x="10458907" y="3301898"/>
            <a:ext cx="0" cy="254203"/>
          </a:xfrm>
          <a:prstGeom prst="line">
            <a:avLst/>
          </a:prstGeom>
          <a:noFill/>
          <a:ln w="17780">
            <a:solidFill>
              <a:srgbClr val="DAD4C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486900" y="3556102"/>
            <a:ext cx="1943100" cy="584302"/>
          </a:xfrm>
          <a:prstGeom prst="roundRect">
            <a:avLst>
              <a:gd name="adj" fmla="val 23944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562795" y="3693262"/>
            <a:ext cx="1790395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Intelligence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9575597" y="4394606"/>
            <a:ext cx="1765706" cy="304495"/>
          </a:xfrm>
          <a:prstGeom prst="roundRect">
            <a:avLst>
              <a:gd name="adj" fmla="val 20721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724644" y="4529938"/>
            <a:ext cx="32918" cy="32918"/>
          </a:xfrm>
          <a:prstGeom prst="ellipse">
            <a:avLst/>
          </a:prstGeom>
          <a:solidFill>
            <a:srgbClr val="B15A38"/>
          </a:solidFill>
          <a:ln/>
        </p:spPr>
      </p:sp>
      <p:sp>
        <p:nvSpPr>
          <p:cNvPr id="63" name="Text 61"/>
          <p:cNvSpPr/>
          <p:nvPr/>
        </p:nvSpPr>
        <p:spPr>
          <a:xfrm>
            <a:off x="9855403" y="4477817"/>
            <a:ext cx="1371600" cy="132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8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&amp; ETL</a:t>
            </a:r>
            <a:endParaRPr lang="en-US" sz="780" dirty="0"/>
          </a:p>
        </p:txBody>
      </p:sp>
      <p:sp>
        <p:nvSpPr>
          <p:cNvPr id="64" name="Shape 62"/>
          <p:cNvSpPr/>
          <p:nvPr/>
        </p:nvSpPr>
        <p:spPr>
          <a:xfrm>
            <a:off x="9575597" y="4800600"/>
            <a:ext cx="1765706" cy="304495"/>
          </a:xfrm>
          <a:prstGeom prst="roundRect">
            <a:avLst>
              <a:gd name="adj" fmla="val 20721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724644" y="4936846"/>
            <a:ext cx="32918" cy="32918"/>
          </a:xfrm>
          <a:prstGeom prst="ellipse">
            <a:avLst/>
          </a:prstGeom>
          <a:solidFill>
            <a:srgbClr val="B15A38"/>
          </a:solidFill>
          <a:ln/>
        </p:spPr>
      </p:sp>
      <p:sp>
        <p:nvSpPr>
          <p:cNvPr id="66" name="Text 64"/>
          <p:cNvSpPr/>
          <p:nvPr/>
        </p:nvSpPr>
        <p:spPr>
          <a:xfrm>
            <a:off x="9855403" y="4884725"/>
            <a:ext cx="1371600" cy="132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8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warehouse</a:t>
            </a:r>
            <a:endParaRPr lang="en-US" sz="780" dirty="0"/>
          </a:p>
        </p:txBody>
      </p:sp>
      <p:sp>
        <p:nvSpPr>
          <p:cNvPr id="67" name="Shape 65"/>
          <p:cNvSpPr/>
          <p:nvPr/>
        </p:nvSpPr>
        <p:spPr>
          <a:xfrm>
            <a:off x="9575597" y="5206594"/>
            <a:ext cx="1765706" cy="304495"/>
          </a:xfrm>
          <a:prstGeom prst="roundRect">
            <a:avLst>
              <a:gd name="adj" fmla="val 20721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724644" y="5342839"/>
            <a:ext cx="32918" cy="32918"/>
          </a:xfrm>
          <a:prstGeom prst="ellipse">
            <a:avLst/>
          </a:prstGeom>
          <a:solidFill>
            <a:srgbClr val="B15A38"/>
          </a:solidFill>
          <a:ln/>
        </p:spPr>
      </p:sp>
      <p:sp>
        <p:nvSpPr>
          <p:cNvPr id="69" name="Text 67"/>
          <p:cNvSpPr/>
          <p:nvPr/>
        </p:nvSpPr>
        <p:spPr>
          <a:xfrm>
            <a:off x="9855403" y="5290718"/>
            <a:ext cx="1371600" cy="132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8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Dashboards</a:t>
            </a:r>
            <a:endParaRPr lang="en-US" sz="780" dirty="0"/>
          </a:p>
        </p:txBody>
      </p:sp>
      <p:sp>
        <p:nvSpPr>
          <p:cNvPr id="70" name="Text 68"/>
          <p:cNvSpPr/>
          <p:nvPr/>
        </p:nvSpPr>
        <p:spPr>
          <a:xfrm>
            <a:off x="761695" y="6424574"/>
            <a:ext cx="10668305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kern="0" spc="70" dirty="0">
                <a:solidFill>
                  <a:srgbClr val="8A86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CarthaPOS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761695" y="6424574"/>
            <a:ext cx="10668305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70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20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848563"/>
            <a:ext cx="1066830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kern="0" spc="170" dirty="0">
                <a:solidFill>
                  <a:srgbClr val="B15A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 · POS GENERATION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61695" y="1070762"/>
            <a:ext cx="10668305" cy="5660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3300" dirty="0">
                <a:solidFill>
                  <a:srgbClr val="1D1D1F"/>
                </a:solidFill>
                <a:latin typeface="Segoe UI Semilight" pitchFamily="34" charset="0"/>
                <a:ea typeface="Segoe UI Semilight" pitchFamily="34" charset="-122"/>
                <a:cs typeface="Segoe UI Semilight" pitchFamily="34" charset="-120"/>
              </a:rPr>
              <a:t>From Configuration to POS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61695" y="1815998"/>
            <a:ext cx="10668305" cy="0"/>
          </a:xfrm>
          <a:prstGeom prst="line">
            <a:avLst/>
          </a:prstGeom>
          <a:noFill/>
          <a:ln w="12700">
            <a:solidFill>
              <a:srgbClr val="DA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1695" y="1946758"/>
            <a:ext cx="10668305" cy="1975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guided pipeline turns a few choices into a Windows installer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61695" y="2590495"/>
            <a:ext cx="2447849" cy="737006"/>
          </a:xfrm>
          <a:prstGeom prst="roundRect">
            <a:avLst>
              <a:gd name="adj" fmla="val 12035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4906" y="2863901"/>
            <a:ext cx="190195" cy="190195"/>
          </a:xfrm>
          <a:prstGeom prst="ellipse">
            <a:avLst/>
          </a:prstGeom>
          <a:solidFill>
            <a:srgbClr val="EFEBDF"/>
          </a:solidFill>
          <a:ln/>
        </p:spPr>
      </p:sp>
      <p:sp>
        <p:nvSpPr>
          <p:cNvPr id="8" name="Text 6"/>
          <p:cNvSpPr/>
          <p:nvPr/>
        </p:nvSpPr>
        <p:spPr>
          <a:xfrm>
            <a:off x="812902" y="2868473"/>
            <a:ext cx="254203" cy="128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B15A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04595" y="2855671"/>
            <a:ext cx="2003450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client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67151" y="2958998"/>
            <a:ext cx="190195" cy="0"/>
          </a:xfrm>
          <a:prstGeom prst="line">
            <a:avLst/>
          </a:prstGeom>
          <a:noFill/>
          <a:ln w="25400">
            <a:solidFill>
              <a:srgbClr val="8A867C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02152" y="2590495"/>
            <a:ext cx="2447849" cy="737006"/>
          </a:xfrm>
          <a:prstGeom prst="roundRect">
            <a:avLst>
              <a:gd name="adj" fmla="val 12035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84448" y="2863901"/>
            <a:ext cx="190195" cy="190195"/>
          </a:xfrm>
          <a:prstGeom prst="ellipse">
            <a:avLst/>
          </a:prstGeom>
          <a:solidFill>
            <a:srgbClr val="EFEBDF"/>
          </a:solidFill>
          <a:ln/>
        </p:spPr>
      </p:sp>
      <p:sp>
        <p:nvSpPr>
          <p:cNvPr id="13" name="Text 11"/>
          <p:cNvSpPr/>
          <p:nvPr/>
        </p:nvSpPr>
        <p:spPr>
          <a:xfrm>
            <a:off x="3552444" y="2868473"/>
            <a:ext cx="254203" cy="128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B15A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845052" y="2855671"/>
            <a:ext cx="2003450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sector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06694" y="2958998"/>
            <a:ext cx="190195" cy="0"/>
          </a:xfrm>
          <a:prstGeom prst="line">
            <a:avLst/>
          </a:prstGeom>
          <a:noFill/>
          <a:ln w="25400">
            <a:solidFill>
              <a:srgbClr val="8A867C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41694" y="2590495"/>
            <a:ext cx="2447849" cy="737006"/>
          </a:xfrm>
          <a:prstGeom prst="roundRect">
            <a:avLst>
              <a:gd name="adj" fmla="val 12035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24905" y="2863901"/>
            <a:ext cx="190195" cy="190195"/>
          </a:xfrm>
          <a:prstGeom prst="ellipse">
            <a:avLst/>
          </a:prstGeom>
          <a:solidFill>
            <a:srgbClr val="EFEBDF"/>
          </a:solidFill>
          <a:ln/>
        </p:spPr>
      </p:sp>
      <p:sp>
        <p:nvSpPr>
          <p:cNvPr id="18" name="Text 16"/>
          <p:cNvSpPr/>
          <p:nvPr/>
        </p:nvSpPr>
        <p:spPr>
          <a:xfrm>
            <a:off x="6292901" y="2868473"/>
            <a:ext cx="254203" cy="128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B15A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584594" y="2855671"/>
            <a:ext cx="2003450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modules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747150" y="2958998"/>
            <a:ext cx="190195" cy="0"/>
          </a:xfrm>
          <a:prstGeom prst="line">
            <a:avLst/>
          </a:prstGeom>
          <a:noFill/>
          <a:ln w="25400">
            <a:solidFill>
              <a:srgbClr val="8A867C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982151" y="2590495"/>
            <a:ext cx="2447849" cy="737006"/>
          </a:xfrm>
          <a:prstGeom prst="roundRect">
            <a:avLst>
              <a:gd name="adj" fmla="val 12035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64447" y="2863901"/>
            <a:ext cx="190195" cy="190195"/>
          </a:xfrm>
          <a:prstGeom prst="ellipse">
            <a:avLst/>
          </a:prstGeom>
          <a:solidFill>
            <a:srgbClr val="EFEBDF"/>
          </a:solidFill>
          <a:ln/>
        </p:spPr>
      </p:sp>
      <p:sp>
        <p:nvSpPr>
          <p:cNvPr id="23" name="Text 21"/>
          <p:cNvSpPr/>
          <p:nvPr/>
        </p:nvSpPr>
        <p:spPr>
          <a:xfrm>
            <a:off x="9032443" y="2868473"/>
            <a:ext cx="254203" cy="128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B15A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325051" y="2855671"/>
            <a:ext cx="2003450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Customize theme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205618" y="3353105"/>
            <a:ext cx="0" cy="291694"/>
          </a:xfrm>
          <a:prstGeom prst="line">
            <a:avLst/>
          </a:prstGeom>
          <a:noFill/>
          <a:ln w="17780">
            <a:solidFill>
              <a:srgbClr val="DAD4C4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1986077" y="3644798"/>
            <a:ext cx="8220456" cy="0"/>
          </a:xfrm>
          <a:prstGeom prst="line">
            <a:avLst/>
          </a:prstGeom>
          <a:noFill/>
          <a:ln w="17780">
            <a:solidFill>
              <a:srgbClr val="DAD4C4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1986077" y="3644798"/>
            <a:ext cx="0" cy="291694"/>
          </a:xfrm>
          <a:prstGeom prst="line">
            <a:avLst/>
          </a:prstGeom>
          <a:noFill/>
          <a:ln w="17780">
            <a:solidFill>
              <a:srgbClr val="DAD4C4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61695" y="3937406"/>
            <a:ext cx="2447849" cy="737006"/>
          </a:xfrm>
          <a:prstGeom prst="roundRect">
            <a:avLst>
              <a:gd name="adj" fmla="val 12035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4906" y="4209898"/>
            <a:ext cx="190195" cy="190195"/>
          </a:xfrm>
          <a:prstGeom prst="ellipse">
            <a:avLst/>
          </a:prstGeom>
          <a:solidFill>
            <a:srgbClr val="EFEBDF"/>
          </a:solidFill>
          <a:ln/>
        </p:spPr>
      </p:sp>
      <p:sp>
        <p:nvSpPr>
          <p:cNvPr id="30" name="Text 28"/>
          <p:cNvSpPr/>
          <p:nvPr/>
        </p:nvSpPr>
        <p:spPr>
          <a:xfrm>
            <a:off x="812902" y="4214470"/>
            <a:ext cx="254203" cy="128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B15A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04595" y="4201668"/>
            <a:ext cx="2003450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config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67151" y="4304995"/>
            <a:ext cx="190195" cy="0"/>
          </a:xfrm>
          <a:prstGeom prst="line">
            <a:avLst/>
          </a:prstGeom>
          <a:noFill/>
          <a:ln w="25400">
            <a:solidFill>
              <a:srgbClr val="8A867C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502152" y="3937406"/>
            <a:ext cx="2447849" cy="737006"/>
          </a:xfrm>
          <a:prstGeom prst="roundRect">
            <a:avLst>
              <a:gd name="adj" fmla="val 12035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584448" y="4209898"/>
            <a:ext cx="190195" cy="190195"/>
          </a:xfrm>
          <a:prstGeom prst="ellipse">
            <a:avLst/>
          </a:prstGeom>
          <a:solidFill>
            <a:srgbClr val="EFEBDF"/>
          </a:solidFill>
          <a:ln/>
        </p:spPr>
      </p:sp>
      <p:sp>
        <p:nvSpPr>
          <p:cNvPr id="35" name="Text 33"/>
          <p:cNvSpPr/>
          <p:nvPr/>
        </p:nvSpPr>
        <p:spPr>
          <a:xfrm>
            <a:off x="3552444" y="4214470"/>
            <a:ext cx="254203" cy="128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B15A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845052" y="4201668"/>
            <a:ext cx="2003450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06694" y="4304995"/>
            <a:ext cx="190195" cy="0"/>
          </a:xfrm>
          <a:prstGeom prst="line">
            <a:avLst/>
          </a:prstGeom>
          <a:noFill/>
          <a:ln w="25400">
            <a:solidFill>
              <a:srgbClr val="8A867C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241694" y="3937406"/>
            <a:ext cx="2447849" cy="737006"/>
          </a:xfrm>
          <a:prstGeom prst="roundRect">
            <a:avLst>
              <a:gd name="adj" fmla="val 12035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324905" y="4209898"/>
            <a:ext cx="190195" cy="190195"/>
          </a:xfrm>
          <a:prstGeom prst="ellipse">
            <a:avLst/>
          </a:prstGeom>
          <a:solidFill>
            <a:srgbClr val="EFEBDF"/>
          </a:solidFill>
          <a:ln/>
        </p:spPr>
      </p:sp>
      <p:sp>
        <p:nvSpPr>
          <p:cNvPr id="40" name="Text 38"/>
          <p:cNvSpPr/>
          <p:nvPr/>
        </p:nvSpPr>
        <p:spPr>
          <a:xfrm>
            <a:off x="6292901" y="4214470"/>
            <a:ext cx="254203" cy="128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B15A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584594" y="4201668"/>
            <a:ext cx="2003450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Package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747150" y="4304995"/>
            <a:ext cx="190195" cy="0"/>
          </a:xfrm>
          <a:prstGeom prst="line">
            <a:avLst/>
          </a:prstGeom>
          <a:noFill/>
          <a:ln w="25400">
            <a:solidFill>
              <a:srgbClr val="8A867C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8982151" y="3937406"/>
            <a:ext cx="2447849" cy="737006"/>
          </a:xfrm>
          <a:prstGeom prst="roundRect">
            <a:avLst>
              <a:gd name="adj" fmla="val 12035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064447" y="4209898"/>
            <a:ext cx="190195" cy="190195"/>
          </a:xfrm>
          <a:prstGeom prst="ellipse">
            <a:avLst/>
          </a:prstGeom>
          <a:solidFill>
            <a:srgbClr val="EFEBDF"/>
          </a:solidFill>
          <a:ln/>
        </p:spPr>
      </p:sp>
      <p:sp>
        <p:nvSpPr>
          <p:cNvPr id="45" name="Text 43"/>
          <p:cNvSpPr/>
          <p:nvPr/>
        </p:nvSpPr>
        <p:spPr>
          <a:xfrm>
            <a:off x="9032443" y="4214470"/>
            <a:ext cx="254203" cy="128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B15A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9325051" y="4201668"/>
            <a:ext cx="2003450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Download installer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61695" y="5092294"/>
            <a:ext cx="10668305" cy="584302"/>
          </a:xfrm>
          <a:prstGeom prst="roundRect">
            <a:avLst>
              <a:gd name="adj" fmla="val 19562"/>
            </a:avLst>
          </a:prstGeom>
          <a:solidFill>
            <a:srgbClr val="EFEBDF"/>
          </a:solidFill>
          <a:ln w="25400">
            <a:solidFill>
              <a:srgbClr val="B15A3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1695" y="5231282"/>
            <a:ext cx="10668305" cy="103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600" kern="0" spc="120" dirty="0">
                <a:solidFill>
                  <a:srgbClr val="B15A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RESULT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761695" y="5375758"/>
            <a:ext cx="10668305" cy="1801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customized Windows Electron POS, built on GitHub Actions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61695" y="6424574"/>
            <a:ext cx="10668305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kern="0" spc="70" dirty="0">
                <a:solidFill>
                  <a:srgbClr val="8A86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CarthaPOS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761695" y="6424574"/>
            <a:ext cx="10668305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70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20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848563"/>
            <a:ext cx="1066830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kern="0" spc="170" dirty="0">
                <a:solidFill>
                  <a:srgbClr val="B15A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 · CUSTOMIZATION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61695" y="1070762"/>
            <a:ext cx="10668305" cy="5660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3300" dirty="0">
                <a:solidFill>
                  <a:srgbClr val="1D1D1F"/>
                </a:solidFill>
                <a:latin typeface="Segoe UI Semilight" pitchFamily="34" charset="0"/>
                <a:ea typeface="Segoe UI Semilight" pitchFamily="34" charset="-122"/>
                <a:cs typeface="Segoe UI Semilight" pitchFamily="34" charset="-120"/>
              </a:rPr>
              <a:t>Customize the POS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61695" y="1815998"/>
            <a:ext cx="10668305" cy="0"/>
          </a:xfrm>
          <a:prstGeom prst="line">
            <a:avLst/>
          </a:prstGeom>
          <a:noFill/>
          <a:ln w="12700">
            <a:solidFill>
              <a:srgbClr val="DA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1695" y="1946758"/>
            <a:ext cx="10668305" cy="1975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live customizer — every choice is previewed before generation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61695" y="2514600"/>
            <a:ext cx="6349594" cy="3149194"/>
          </a:xfrm>
          <a:prstGeom prst="roundRect">
            <a:avLst>
              <a:gd name="adj" fmla="val 3630"/>
            </a:avLst>
          </a:prstGeom>
          <a:solidFill>
            <a:srgbClr val="FFFFFF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1695" y="2806294"/>
            <a:ext cx="6349594" cy="0"/>
          </a:xfrm>
          <a:prstGeom prst="line">
            <a:avLst/>
          </a:prstGeom>
          <a:noFill/>
          <a:ln w="12700">
            <a:solidFill>
              <a:srgbClr val="E6E1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5198" y="2628900"/>
            <a:ext cx="63094" cy="63094"/>
          </a:xfrm>
          <a:prstGeom prst="ellipse">
            <a:avLst/>
          </a:prstGeom>
          <a:solidFill>
            <a:srgbClr val="E1A08C"/>
          </a:solidFill>
          <a:ln/>
        </p:spPr>
      </p:sp>
      <p:sp>
        <p:nvSpPr>
          <p:cNvPr id="9" name="Shape 7"/>
          <p:cNvSpPr/>
          <p:nvPr/>
        </p:nvSpPr>
        <p:spPr>
          <a:xfrm>
            <a:off x="1022299" y="2628900"/>
            <a:ext cx="63094" cy="63094"/>
          </a:xfrm>
          <a:prstGeom prst="ellipse">
            <a:avLst/>
          </a:prstGeom>
          <a:solidFill>
            <a:srgbClr val="E6E1D3"/>
          </a:solidFill>
          <a:ln/>
        </p:spPr>
      </p:sp>
      <p:sp>
        <p:nvSpPr>
          <p:cNvPr id="10" name="Shape 8"/>
          <p:cNvSpPr/>
          <p:nvPr/>
        </p:nvSpPr>
        <p:spPr>
          <a:xfrm>
            <a:off x="1149401" y="2628900"/>
            <a:ext cx="63094" cy="63094"/>
          </a:xfrm>
          <a:prstGeom prst="ellipse">
            <a:avLst/>
          </a:prstGeom>
          <a:solidFill>
            <a:srgbClr val="E6E1D3"/>
          </a:solidFill>
          <a:ln/>
        </p:spPr>
      </p:sp>
      <p:sp>
        <p:nvSpPr>
          <p:cNvPr id="11" name="Text 9"/>
          <p:cNvSpPr/>
          <p:nvPr/>
        </p:nvSpPr>
        <p:spPr>
          <a:xfrm>
            <a:off x="1714500" y="2607869"/>
            <a:ext cx="4444898" cy="128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 Customizer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768096" y="2812694"/>
            <a:ext cx="761695" cy="2844698"/>
          </a:xfrm>
          <a:prstGeom prst="rect">
            <a:avLst/>
          </a:prstGeom>
          <a:solidFill>
            <a:srgbClr val="EFEBDF"/>
          </a:solidFill>
          <a:ln/>
        </p:spPr>
      </p:sp>
      <p:sp>
        <p:nvSpPr>
          <p:cNvPr id="13" name="Shape 11"/>
          <p:cNvSpPr/>
          <p:nvPr/>
        </p:nvSpPr>
        <p:spPr>
          <a:xfrm>
            <a:off x="901598" y="3010205"/>
            <a:ext cx="508406" cy="63094"/>
          </a:xfrm>
          <a:prstGeom prst="roundRect">
            <a:avLst>
              <a:gd name="adj" fmla="val 50724"/>
            </a:avLst>
          </a:prstGeom>
          <a:solidFill>
            <a:srgbClr val="B15A38"/>
          </a:solidFill>
          <a:ln/>
        </p:spPr>
      </p:sp>
      <p:sp>
        <p:nvSpPr>
          <p:cNvPr id="14" name="Shape 12"/>
          <p:cNvSpPr/>
          <p:nvPr/>
        </p:nvSpPr>
        <p:spPr>
          <a:xfrm>
            <a:off x="901598" y="3276295"/>
            <a:ext cx="508406" cy="63094"/>
          </a:xfrm>
          <a:prstGeom prst="roundRect">
            <a:avLst>
              <a:gd name="adj" fmla="val 50724"/>
            </a:avLst>
          </a:prstGeom>
          <a:solidFill>
            <a:srgbClr val="DAD4C4"/>
          </a:solidFill>
          <a:ln/>
        </p:spPr>
      </p:sp>
      <p:sp>
        <p:nvSpPr>
          <p:cNvPr id="15" name="Shape 13"/>
          <p:cNvSpPr/>
          <p:nvPr/>
        </p:nvSpPr>
        <p:spPr>
          <a:xfrm>
            <a:off x="901598" y="3543300"/>
            <a:ext cx="508406" cy="63094"/>
          </a:xfrm>
          <a:prstGeom prst="roundRect">
            <a:avLst>
              <a:gd name="adj" fmla="val 50724"/>
            </a:avLst>
          </a:prstGeom>
          <a:solidFill>
            <a:srgbClr val="DAD4C4"/>
          </a:solidFill>
          <a:ln/>
        </p:spPr>
      </p:sp>
      <p:sp>
        <p:nvSpPr>
          <p:cNvPr id="16" name="Shape 14"/>
          <p:cNvSpPr/>
          <p:nvPr/>
        </p:nvSpPr>
        <p:spPr>
          <a:xfrm>
            <a:off x="901598" y="3810305"/>
            <a:ext cx="508406" cy="63094"/>
          </a:xfrm>
          <a:prstGeom prst="roundRect">
            <a:avLst>
              <a:gd name="adj" fmla="val 50724"/>
            </a:avLst>
          </a:prstGeom>
          <a:solidFill>
            <a:srgbClr val="DAD4C4"/>
          </a:solidFill>
          <a:ln/>
        </p:spPr>
      </p:sp>
      <p:sp>
        <p:nvSpPr>
          <p:cNvPr id="17" name="Shape 15"/>
          <p:cNvSpPr/>
          <p:nvPr/>
        </p:nvSpPr>
        <p:spPr>
          <a:xfrm>
            <a:off x="901598" y="4076395"/>
            <a:ext cx="508406" cy="63094"/>
          </a:xfrm>
          <a:prstGeom prst="roundRect">
            <a:avLst>
              <a:gd name="adj" fmla="val 50724"/>
            </a:avLst>
          </a:prstGeom>
          <a:solidFill>
            <a:srgbClr val="DAD4C4"/>
          </a:solidFill>
          <a:ln/>
        </p:spPr>
      </p:sp>
      <p:sp>
        <p:nvSpPr>
          <p:cNvPr id="18" name="Shape 16"/>
          <p:cNvSpPr/>
          <p:nvPr/>
        </p:nvSpPr>
        <p:spPr>
          <a:xfrm>
            <a:off x="901598" y="4343400"/>
            <a:ext cx="508406" cy="63094"/>
          </a:xfrm>
          <a:prstGeom prst="roundRect">
            <a:avLst>
              <a:gd name="adj" fmla="val 50724"/>
            </a:avLst>
          </a:prstGeom>
          <a:solidFill>
            <a:srgbClr val="DAD4C4"/>
          </a:solidFill>
          <a:ln/>
        </p:spPr>
      </p:sp>
      <p:sp>
        <p:nvSpPr>
          <p:cNvPr id="19" name="Text 17"/>
          <p:cNvSpPr/>
          <p:nvPr/>
        </p:nvSpPr>
        <p:spPr>
          <a:xfrm>
            <a:off x="1688897" y="2881274"/>
            <a:ext cx="9741103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8A86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Layout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688897" y="3098902"/>
            <a:ext cx="1706270" cy="291694"/>
          </a:xfrm>
          <a:prstGeom prst="roundRect">
            <a:avLst>
              <a:gd name="adj" fmla="val 17555"/>
            </a:avLst>
          </a:prstGeom>
          <a:solidFill>
            <a:srgbClr val="1D1D1F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88897" y="3179369"/>
            <a:ext cx="1706270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Left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471062" y="3098902"/>
            <a:ext cx="1706270" cy="291694"/>
          </a:xfrm>
          <a:prstGeom prst="roundRect">
            <a:avLst>
              <a:gd name="adj" fmla="val 17555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1062" y="3179369"/>
            <a:ext cx="1706270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0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253228" y="3098902"/>
            <a:ext cx="1706270" cy="291694"/>
          </a:xfrm>
          <a:prstGeom prst="roundRect">
            <a:avLst>
              <a:gd name="adj" fmla="val 17555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3228" y="3179369"/>
            <a:ext cx="1706270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0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Right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688897" y="3591763"/>
            <a:ext cx="9741103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8A86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Palette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701698" y="3797503"/>
            <a:ext cx="254203" cy="254203"/>
          </a:xfrm>
          <a:prstGeom prst="ellipse">
            <a:avLst/>
          </a:prstGeom>
          <a:solidFill>
            <a:srgbClr val="B15A38"/>
          </a:solidFill>
          <a:ln w="19050">
            <a:solidFill>
              <a:srgbClr val="DAD4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83003" y="3797503"/>
            <a:ext cx="254203" cy="254203"/>
          </a:xfrm>
          <a:prstGeom prst="ellipse">
            <a:avLst/>
          </a:prstGeom>
          <a:solidFill>
            <a:srgbClr val="43695E"/>
          </a:solidFill>
          <a:ln w="19050">
            <a:solidFill>
              <a:srgbClr val="DAD4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63394" y="3797503"/>
            <a:ext cx="254203" cy="254203"/>
          </a:xfrm>
          <a:prstGeom prst="ellipse">
            <a:avLst/>
          </a:prstGeom>
          <a:solidFill>
            <a:srgbClr val="4A6B86"/>
          </a:solidFill>
          <a:ln w="19050">
            <a:solidFill>
              <a:srgbClr val="DAD4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44698" y="3797503"/>
            <a:ext cx="254203" cy="254203"/>
          </a:xfrm>
          <a:prstGeom prst="ellipse">
            <a:avLst/>
          </a:prstGeom>
          <a:solidFill>
            <a:srgbClr val="1D1D1F"/>
          </a:solidFill>
          <a:ln w="19050">
            <a:solidFill>
              <a:srgbClr val="DAD4C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26003" y="3797503"/>
            <a:ext cx="254203" cy="254203"/>
          </a:xfrm>
          <a:prstGeom prst="ellipse">
            <a:avLst/>
          </a:prstGeom>
          <a:solidFill>
            <a:srgbClr val="EFEBDF"/>
          </a:solidFill>
          <a:ln w="19050">
            <a:solidFill>
              <a:srgbClr val="DAD4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88897" y="4252874"/>
            <a:ext cx="9741103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8A86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 preview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688897" y="4470502"/>
            <a:ext cx="5270602" cy="977494"/>
          </a:xfrm>
          <a:prstGeom prst="roundRect">
            <a:avLst>
              <a:gd name="adj" fmla="val 7764"/>
            </a:avLst>
          </a:prstGeom>
          <a:solidFill>
            <a:srgbClr val="EFEBDF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54403" y="4999939"/>
            <a:ext cx="651053" cy="283464"/>
          </a:xfrm>
          <a:prstGeom prst="roundRect">
            <a:avLst>
              <a:gd name="adj" fmla="val 6774"/>
            </a:avLst>
          </a:prstGeom>
          <a:solidFill>
            <a:srgbClr val="43695E">
              <a:alpha val="69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569464" y="4811573"/>
            <a:ext cx="651053" cy="471830"/>
          </a:xfrm>
          <a:prstGeom prst="roundRect">
            <a:avLst>
              <a:gd name="adj" fmla="val 4070"/>
            </a:avLst>
          </a:prstGeom>
          <a:solidFill>
            <a:srgbClr val="43695E">
              <a:alpha val="84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283610" y="4905756"/>
            <a:ext cx="651053" cy="377647"/>
          </a:xfrm>
          <a:prstGeom prst="roundRect">
            <a:avLst>
              <a:gd name="adj" fmla="val 5085"/>
            </a:avLst>
          </a:prstGeom>
          <a:solidFill>
            <a:srgbClr val="43695E">
              <a:alpha val="76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998671" y="4717390"/>
            <a:ext cx="651053" cy="566014"/>
          </a:xfrm>
          <a:prstGeom prst="roundRect">
            <a:avLst>
              <a:gd name="adj" fmla="val 3393"/>
            </a:avLst>
          </a:prstGeom>
          <a:solidFill>
            <a:srgbClr val="43695E">
              <a:alpha val="92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13732" y="4905756"/>
            <a:ext cx="651053" cy="377647"/>
          </a:xfrm>
          <a:prstGeom prst="roundRect">
            <a:avLst>
              <a:gd name="adj" fmla="val 5085"/>
            </a:avLst>
          </a:prstGeom>
          <a:solidFill>
            <a:srgbClr val="43695E">
              <a:alpha val="76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428793" y="4623206"/>
            <a:ext cx="651053" cy="660197"/>
          </a:xfrm>
          <a:prstGeom prst="roundRect">
            <a:avLst>
              <a:gd name="adj" fmla="val 2949"/>
            </a:avLst>
          </a:prstGeom>
          <a:solidFill>
            <a:srgbClr val="43695E"/>
          </a:solidFill>
          <a:ln/>
        </p:spPr>
      </p:sp>
      <p:sp>
        <p:nvSpPr>
          <p:cNvPr id="40" name="Shape 38"/>
          <p:cNvSpPr/>
          <p:nvPr/>
        </p:nvSpPr>
        <p:spPr>
          <a:xfrm>
            <a:off x="6142939" y="4811573"/>
            <a:ext cx="651053" cy="471830"/>
          </a:xfrm>
          <a:prstGeom prst="roundRect">
            <a:avLst>
              <a:gd name="adj" fmla="val 4070"/>
            </a:avLst>
          </a:prstGeom>
          <a:solidFill>
            <a:srgbClr val="43695E">
              <a:alpha val="84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391095" y="2660904"/>
            <a:ext cx="51206" cy="51206"/>
          </a:xfrm>
          <a:prstGeom prst="ellipse">
            <a:avLst/>
          </a:prstGeom>
          <a:solidFill>
            <a:srgbClr val="B15A38"/>
          </a:solidFill>
          <a:ln/>
        </p:spPr>
      </p:sp>
      <p:sp>
        <p:nvSpPr>
          <p:cNvPr id="42" name="Text 40"/>
          <p:cNvSpPr/>
          <p:nvPr/>
        </p:nvSpPr>
        <p:spPr>
          <a:xfrm>
            <a:off x="7518197" y="2587752"/>
            <a:ext cx="3911803" cy="1883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sector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518197" y="2895905"/>
            <a:ext cx="3911803" cy="0"/>
          </a:xfrm>
          <a:prstGeom prst="line">
            <a:avLst/>
          </a:prstGeom>
          <a:noFill/>
          <a:ln w="12700">
            <a:solidFill>
              <a:srgbClr val="E6E1D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91095" y="3269894"/>
            <a:ext cx="51206" cy="51206"/>
          </a:xfrm>
          <a:prstGeom prst="ellipse">
            <a:avLst/>
          </a:prstGeom>
          <a:solidFill>
            <a:srgbClr val="B15A38"/>
          </a:solidFill>
          <a:ln/>
        </p:spPr>
      </p:sp>
      <p:sp>
        <p:nvSpPr>
          <p:cNvPr id="45" name="Text 43"/>
          <p:cNvSpPr/>
          <p:nvPr/>
        </p:nvSpPr>
        <p:spPr>
          <a:xfrm>
            <a:off x="7518197" y="3197657"/>
            <a:ext cx="3911803" cy="1883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518197" y="3504895"/>
            <a:ext cx="3911803" cy="0"/>
          </a:xfrm>
          <a:prstGeom prst="line">
            <a:avLst/>
          </a:prstGeom>
          <a:noFill/>
          <a:ln w="12700">
            <a:solidFill>
              <a:srgbClr val="E6E1D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91095" y="3879799"/>
            <a:ext cx="51206" cy="51206"/>
          </a:xfrm>
          <a:prstGeom prst="ellipse">
            <a:avLst/>
          </a:prstGeom>
          <a:solidFill>
            <a:srgbClr val="B15A38"/>
          </a:solidFill>
          <a:ln/>
        </p:spPr>
      </p:sp>
      <p:sp>
        <p:nvSpPr>
          <p:cNvPr id="48" name="Text 46"/>
          <p:cNvSpPr/>
          <p:nvPr/>
        </p:nvSpPr>
        <p:spPr>
          <a:xfrm>
            <a:off x="7518197" y="3807562"/>
            <a:ext cx="3911803" cy="1883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Colours &amp; logo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518197" y="4114800"/>
            <a:ext cx="3911803" cy="0"/>
          </a:xfrm>
          <a:prstGeom prst="line">
            <a:avLst/>
          </a:prstGeom>
          <a:noFill/>
          <a:ln w="12700">
            <a:solidFill>
              <a:srgbClr val="E6E1D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391095" y="4489704"/>
            <a:ext cx="51206" cy="51206"/>
          </a:xfrm>
          <a:prstGeom prst="ellipse">
            <a:avLst/>
          </a:prstGeom>
          <a:solidFill>
            <a:srgbClr val="B15A38"/>
          </a:solidFill>
          <a:ln/>
        </p:spPr>
      </p:sp>
      <p:sp>
        <p:nvSpPr>
          <p:cNvPr id="51" name="Text 49"/>
          <p:cNvSpPr/>
          <p:nvPr/>
        </p:nvSpPr>
        <p:spPr>
          <a:xfrm>
            <a:off x="7518197" y="4416552"/>
            <a:ext cx="3911803" cy="1883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Layout &amp; navigation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518197" y="4724705"/>
            <a:ext cx="3911803" cy="0"/>
          </a:xfrm>
          <a:prstGeom prst="line">
            <a:avLst/>
          </a:prstGeom>
          <a:noFill/>
          <a:ln w="12700">
            <a:solidFill>
              <a:srgbClr val="E6E1D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391095" y="5098694"/>
            <a:ext cx="51206" cy="51206"/>
          </a:xfrm>
          <a:prstGeom prst="ellipse">
            <a:avLst/>
          </a:prstGeom>
          <a:solidFill>
            <a:srgbClr val="B15A38"/>
          </a:solidFill>
          <a:ln/>
        </p:spPr>
      </p:sp>
      <p:sp>
        <p:nvSpPr>
          <p:cNvPr id="54" name="Text 52"/>
          <p:cNvSpPr/>
          <p:nvPr/>
        </p:nvSpPr>
        <p:spPr>
          <a:xfrm>
            <a:off x="7518197" y="5026457"/>
            <a:ext cx="3911803" cy="1883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 configuration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518197" y="5333695"/>
            <a:ext cx="3911803" cy="0"/>
          </a:xfrm>
          <a:prstGeom prst="line">
            <a:avLst/>
          </a:prstGeom>
          <a:noFill/>
          <a:ln w="12700">
            <a:solidFill>
              <a:srgbClr val="E6E1D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1695" y="6424574"/>
            <a:ext cx="10668305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kern="0" spc="70" dirty="0">
                <a:solidFill>
                  <a:srgbClr val="8A86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CarthaPOS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761695" y="6424574"/>
            <a:ext cx="10668305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70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20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848563"/>
            <a:ext cx="1066830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kern="0" spc="170" dirty="0">
                <a:solidFill>
                  <a:srgbClr val="B15A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09 · GENERATED POS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61695" y="1070762"/>
            <a:ext cx="10668305" cy="5660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3300" dirty="0">
                <a:solidFill>
                  <a:srgbClr val="1D1D1F"/>
                </a:solidFill>
                <a:latin typeface="Segoe UI Semilight" pitchFamily="34" charset="0"/>
                <a:ea typeface="Segoe UI Semilight" pitchFamily="34" charset="-122"/>
                <a:cs typeface="Segoe UI Semilight" pitchFamily="34" charset="-120"/>
              </a:rPr>
              <a:t>Generated POS Application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61695" y="1815998"/>
            <a:ext cx="10668305" cy="0"/>
          </a:xfrm>
          <a:prstGeom prst="line">
            <a:avLst/>
          </a:prstGeom>
          <a:noFill/>
          <a:ln w="12700">
            <a:solidFill>
              <a:srgbClr val="DA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1695" y="1946758"/>
            <a:ext cx="10668305" cy="1975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offline-capable Electron desktop app, tailored to the sector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61695" y="2488997"/>
            <a:ext cx="8318297" cy="2971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1695" y="2781605"/>
            <a:ext cx="8318297" cy="0"/>
          </a:xfrm>
          <a:prstGeom prst="line">
            <a:avLst/>
          </a:prstGeom>
          <a:noFill/>
          <a:ln w="12700">
            <a:solidFill>
              <a:srgbClr val="E6E1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5198" y="2603297"/>
            <a:ext cx="63094" cy="63094"/>
          </a:xfrm>
          <a:prstGeom prst="ellipse">
            <a:avLst/>
          </a:prstGeom>
          <a:solidFill>
            <a:srgbClr val="E1A08C"/>
          </a:solidFill>
          <a:ln/>
        </p:spPr>
      </p:sp>
      <p:sp>
        <p:nvSpPr>
          <p:cNvPr id="9" name="Shape 7"/>
          <p:cNvSpPr/>
          <p:nvPr/>
        </p:nvSpPr>
        <p:spPr>
          <a:xfrm>
            <a:off x="1022299" y="2603297"/>
            <a:ext cx="63094" cy="63094"/>
          </a:xfrm>
          <a:prstGeom prst="ellipse">
            <a:avLst/>
          </a:prstGeom>
          <a:solidFill>
            <a:srgbClr val="E6E1D3"/>
          </a:solidFill>
          <a:ln/>
        </p:spPr>
      </p:sp>
      <p:sp>
        <p:nvSpPr>
          <p:cNvPr id="10" name="Shape 8"/>
          <p:cNvSpPr/>
          <p:nvPr/>
        </p:nvSpPr>
        <p:spPr>
          <a:xfrm>
            <a:off x="1149401" y="2603297"/>
            <a:ext cx="63094" cy="63094"/>
          </a:xfrm>
          <a:prstGeom prst="ellipse">
            <a:avLst/>
          </a:prstGeom>
          <a:solidFill>
            <a:srgbClr val="E6E1D3"/>
          </a:solidFill>
          <a:ln/>
        </p:spPr>
      </p:sp>
      <p:sp>
        <p:nvSpPr>
          <p:cNvPr id="11" name="Text 9"/>
          <p:cNvSpPr/>
          <p:nvPr/>
        </p:nvSpPr>
        <p:spPr>
          <a:xfrm>
            <a:off x="2009851" y="2582266"/>
            <a:ext cx="5822899" cy="128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POS — Restaurant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768096" y="2788006"/>
            <a:ext cx="761695" cy="2667305"/>
          </a:xfrm>
          <a:prstGeom prst="rect">
            <a:avLst/>
          </a:prstGeom>
          <a:solidFill>
            <a:srgbClr val="EFEBDF"/>
          </a:solidFill>
          <a:ln/>
        </p:spPr>
      </p:sp>
      <p:sp>
        <p:nvSpPr>
          <p:cNvPr id="13" name="Shape 11"/>
          <p:cNvSpPr/>
          <p:nvPr/>
        </p:nvSpPr>
        <p:spPr>
          <a:xfrm>
            <a:off x="901598" y="2984602"/>
            <a:ext cx="508406" cy="63094"/>
          </a:xfrm>
          <a:prstGeom prst="roundRect">
            <a:avLst>
              <a:gd name="adj" fmla="val 50724"/>
            </a:avLst>
          </a:prstGeom>
          <a:solidFill>
            <a:srgbClr val="B15A38"/>
          </a:solidFill>
          <a:ln/>
        </p:spPr>
      </p:sp>
      <p:sp>
        <p:nvSpPr>
          <p:cNvPr id="14" name="Shape 12"/>
          <p:cNvSpPr/>
          <p:nvPr/>
        </p:nvSpPr>
        <p:spPr>
          <a:xfrm>
            <a:off x="901598" y="3251606"/>
            <a:ext cx="508406" cy="63094"/>
          </a:xfrm>
          <a:prstGeom prst="roundRect">
            <a:avLst>
              <a:gd name="adj" fmla="val 50724"/>
            </a:avLst>
          </a:prstGeom>
          <a:solidFill>
            <a:srgbClr val="DAD4C4"/>
          </a:solidFill>
          <a:ln/>
        </p:spPr>
      </p:sp>
      <p:sp>
        <p:nvSpPr>
          <p:cNvPr id="15" name="Shape 13"/>
          <p:cNvSpPr/>
          <p:nvPr/>
        </p:nvSpPr>
        <p:spPr>
          <a:xfrm>
            <a:off x="901598" y="3517697"/>
            <a:ext cx="508406" cy="63094"/>
          </a:xfrm>
          <a:prstGeom prst="roundRect">
            <a:avLst>
              <a:gd name="adj" fmla="val 50724"/>
            </a:avLst>
          </a:prstGeom>
          <a:solidFill>
            <a:srgbClr val="DAD4C4"/>
          </a:solidFill>
          <a:ln/>
        </p:spPr>
      </p:sp>
      <p:sp>
        <p:nvSpPr>
          <p:cNvPr id="16" name="Shape 14"/>
          <p:cNvSpPr/>
          <p:nvPr/>
        </p:nvSpPr>
        <p:spPr>
          <a:xfrm>
            <a:off x="901598" y="3784702"/>
            <a:ext cx="508406" cy="63094"/>
          </a:xfrm>
          <a:prstGeom prst="roundRect">
            <a:avLst>
              <a:gd name="adj" fmla="val 50724"/>
            </a:avLst>
          </a:prstGeom>
          <a:solidFill>
            <a:srgbClr val="DAD4C4"/>
          </a:solidFill>
          <a:ln/>
        </p:spPr>
      </p:sp>
      <p:sp>
        <p:nvSpPr>
          <p:cNvPr id="17" name="Shape 15"/>
          <p:cNvSpPr/>
          <p:nvPr/>
        </p:nvSpPr>
        <p:spPr>
          <a:xfrm>
            <a:off x="901598" y="4051706"/>
            <a:ext cx="508406" cy="63094"/>
          </a:xfrm>
          <a:prstGeom prst="roundRect">
            <a:avLst>
              <a:gd name="adj" fmla="val 50724"/>
            </a:avLst>
          </a:prstGeom>
          <a:solidFill>
            <a:srgbClr val="DAD4C4"/>
          </a:solidFill>
          <a:ln/>
        </p:spPr>
      </p:sp>
      <p:sp>
        <p:nvSpPr>
          <p:cNvPr id="18" name="Shape 16"/>
          <p:cNvSpPr/>
          <p:nvPr/>
        </p:nvSpPr>
        <p:spPr>
          <a:xfrm>
            <a:off x="901598" y="4317797"/>
            <a:ext cx="508406" cy="63094"/>
          </a:xfrm>
          <a:prstGeom prst="roundRect">
            <a:avLst>
              <a:gd name="adj" fmla="val 50724"/>
            </a:avLst>
          </a:prstGeom>
          <a:solidFill>
            <a:srgbClr val="DAD4C4"/>
          </a:solidFill>
          <a:ln/>
        </p:spPr>
      </p:sp>
      <p:sp>
        <p:nvSpPr>
          <p:cNvPr id="19" name="Shape 17"/>
          <p:cNvSpPr/>
          <p:nvPr/>
        </p:nvSpPr>
        <p:spPr>
          <a:xfrm>
            <a:off x="901598" y="4584802"/>
            <a:ext cx="508406" cy="63094"/>
          </a:xfrm>
          <a:prstGeom prst="roundRect">
            <a:avLst>
              <a:gd name="adj" fmla="val 50724"/>
            </a:avLst>
          </a:prstGeom>
          <a:solidFill>
            <a:srgbClr val="DAD4C4"/>
          </a:solidFill>
          <a:ln/>
        </p:spPr>
      </p:sp>
      <p:sp>
        <p:nvSpPr>
          <p:cNvPr id="20" name="Shape 18"/>
          <p:cNvSpPr/>
          <p:nvPr/>
        </p:nvSpPr>
        <p:spPr>
          <a:xfrm>
            <a:off x="1688897" y="2933395"/>
            <a:ext cx="1723644" cy="660197"/>
          </a:xfrm>
          <a:prstGeom prst="roundRect">
            <a:avLst>
              <a:gd name="adj" fmla="val 11496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03197" y="3052267"/>
            <a:ext cx="9626803" cy="1115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803197" y="3222346"/>
            <a:ext cx="9626803" cy="223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B15A3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€ 1 248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527755" y="2933395"/>
            <a:ext cx="1723644" cy="660197"/>
          </a:xfrm>
          <a:prstGeom prst="roundRect">
            <a:avLst>
              <a:gd name="adj" fmla="val 11496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42055" y="3052267"/>
            <a:ext cx="7787945" cy="1115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Orders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3642055" y="3222346"/>
            <a:ext cx="7787945" cy="223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365699" y="2933395"/>
            <a:ext cx="1723644" cy="660197"/>
          </a:xfrm>
          <a:prstGeom prst="roundRect">
            <a:avLst>
              <a:gd name="adj" fmla="val 11496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79999" y="3052267"/>
            <a:ext cx="5950001" cy="1115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ticket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5479999" y="3222346"/>
            <a:ext cx="5950001" cy="223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43695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€ 54.2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203643" y="2933395"/>
            <a:ext cx="1723644" cy="660197"/>
          </a:xfrm>
          <a:prstGeom prst="roundRect">
            <a:avLst>
              <a:gd name="adj" fmla="val 11496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7943" y="3052267"/>
            <a:ext cx="4112057" cy="1115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stock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7317943" y="3222346"/>
            <a:ext cx="4112057" cy="223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4A6B86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8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688897" y="3733495"/>
            <a:ext cx="4487875" cy="1511503"/>
          </a:xfrm>
          <a:prstGeom prst="roundRect">
            <a:avLst>
              <a:gd name="adj" fmla="val 5021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54403" y="4483303"/>
            <a:ext cx="539496" cy="558698"/>
          </a:xfrm>
          <a:prstGeom prst="roundRect">
            <a:avLst>
              <a:gd name="adj" fmla="val 3559"/>
            </a:avLst>
          </a:prstGeom>
          <a:solidFill>
            <a:srgbClr val="43695E">
              <a:alpha val="73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456993" y="4203497"/>
            <a:ext cx="539496" cy="838505"/>
          </a:xfrm>
          <a:prstGeom prst="roundRect">
            <a:avLst>
              <a:gd name="adj" fmla="val 3559"/>
            </a:avLst>
          </a:prstGeom>
          <a:solidFill>
            <a:srgbClr val="43695E">
              <a:alpha val="86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060497" y="4343400"/>
            <a:ext cx="539496" cy="698602"/>
          </a:xfrm>
          <a:prstGeom prst="roundRect">
            <a:avLst>
              <a:gd name="adj" fmla="val 3559"/>
            </a:avLst>
          </a:prstGeom>
          <a:solidFill>
            <a:srgbClr val="43695E">
              <a:alpha val="79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663086" y="4063594"/>
            <a:ext cx="539496" cy="977494"/>
          </a:xfrm>
          <a:prstGeom prst="roundRect">
            <a:avLst>
              <a:gd name="adj" fmla="val 3559"/>
            </a:avLst>
          </a:prstGeom>
          <a:solidFill>
            <a:srgbClr val="43695E">
              <a:alpha val="93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266590" y="4343400"/>
            <a:ext cx="539496" cy="698602"/>
          </a:xfrm>
          <a:prstGeom prst="roundRect">
            <a:avLst>
              <a:gd name="adj" fmla="val 3559"/>
            </a:avLst>
          </a:prstGeom>
          <a:solidFill>
            <a:srgbClr val="43695E">
              <a:alpha val="79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869180" y="3924605"/>
            <a:ext cx="539496" cy="1117397"/>
          </a:xfrm>
          <a:prstGeom prst="roundRect">
            <a:avLst>
              <a:gd name="adj" fmla="val 3559"/>
            </a:avLst>
          </a:prstGeom>
          <a:solidFill>
            <a:srgbClr val="43695E"/>
          </a:solidFill>
          <a:ln/>
        </p:spPr>
      </p:sp>
      <p:sp>
        <p:nvSpPr>
          <p:cNvPr id="39" name="Shape 37"/>
          <p:cNvSpPr/>
          <p:nvPr/>
        </p:nvSpPr>
        <p:spPr>
          <a:xfrm>
            <a:off x="5472684" y="4203497"/>
            <a:ext cx="539496" cy="838505"/>
          </a:xfrm>
          <a:prstGeom prst="roundRect">
            <a:avLst>
              <a:gd name="adj" fmla="val 3559"/>
            </a:avLst>
          </a:prstGeom>
          <a:solidFill>
            <a:srgbClr val="43695E">
              <a:alpha val="86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303313" y="4095598"/>
            <a:ext cx="787298" cy="787298"/>
          </a:xfrm>
          <a:prstGeom prst="ellipse">
            <a:avLst/>
          </a:prstGeom>
          <a:ln w="114300">
            <a:solidFill>
              <a:srgbClr val="E6E1D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03313" y="4095598"/>
            <a:ext cx="787298" cy="787298"/>
          </a:xfrm>
          <a:prstGeom prst="arc">
            <a:avLst>
              <a:gd name="adj1" fmla="val -5400000"/>
              <a:gd name="adj2" fmla="val 7980000"/>
            </a:avLst>
          </a:prstGeom>
          <a:ln w="114300">
            <a:solidFill>
              <a:srgbClr val="B15A3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1695" y="5613502"/>
            <a:ext cx="587045" cy="291694"/>
          </a:xfrm>
          <a:prstGeom prst="roundRect">
            <a:avLst>
              <a:gd name="adj" fmla="val 50157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1695" y="5647334"/>
            <a:ext cx="587045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450238" y="5613502"/>
            <a:ext cx="843077" cy="291694"/>
          </a:xfrm>
          <a:prstGeom prst="roundRect">
            <a:avLst>
              <a:gd name="adj" fmla="val 50157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450238" y="5647334"/>
            <a:ext cx="843077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394814" y="5613502"/>
            <a:ext cx="779069" cy="291694"/>
          </a:xfrm>
          <a:prstGeom prst="roundRect">
            <a:avLst>
              <a:gd name="adj" fmla="val 50157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94814" y="5647334"/>
            <a:ext cx="779069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75381" y="5613502"/>
            <a:ext cx="715061" cy="291694"/>
          </a:xfrm>
          <a:prstGeom prst="roundRect">
            <a:avLst>
              <a:gd name="adj" fmla="val 50157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75381" y="5647334"/>
            <a:ext cx="715061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Kitchen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091026" y="5613502"/>
            <a:ext cx="651053" cy="291694"/>
          </a:xfrm>
          <a:prstGeom prst="roundRect">
            <a:avLst>
              <a:gd name="adj" fmla="val 50157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91026" y="5647334"/>
            <a:ext cx="651053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843577" y="5613502"/>
            <a:ext cx="843077" cy="291694"/>
          </a:xfrm>
          <a:prstGeom prst="roundRect">
            <a:avLst>
              <a:gd name="adj" fmla="val 50157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43577" y="5647334"/>
            <a:ext cx="843077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788152" y="5613502"/>
            <a:ext cx="1099109" cy="291694"/>
          </a:xfrm>
          <a:prstGeom prst="roundRect">
            <a:avLst>
              <a:gd name="adj" fmla="val 50157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88152" y="5647334"/>
            <a:ext cx="1099109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 register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988759" y="5613502"/>
            <a:ext cx="715061" cy="291694"/>
          </a:xfrm>
          <a:prstGeom prst="roundRect">
            <a:avLst>
              <a:gd name="adj" fmla="val 50157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88759" y="5647334"/>
            <a:ext cx="715061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61695" y="6424574"/>
            <a:ext cx="10668305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kern="0" spc="70" dirty="0">
                <a:solidFill>
                  <a:srgbClr val="8A86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CarthaPOS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761695" y="6424574"/>
            <a:ext cx="10668305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70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20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848563"/>
            <a:ext cx="1066830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kern="0" spc="170" dirty="0">
                <a:solidFill>
                  <a:srgbClr val="B15A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 · SECURITY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61695" y="1070762"/>
            <a:ext cx="10668305" cy="5660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3300" dirty="0">
                <a:solidFill>
                  <a:srgbClr val="1D1D1F"/>
                </a:solidFill>
                <a:latin typeface="Segoe UI Semilight" pitchFamily="34" charset="0"/>
                <a:ea typeface="Segoe UI Semilight" pitchFamily="34" charset="-122"/>
                <a:cs typeface="Segoe UI Semilight" pitchFamily="34" charset="-120"/>
              </a:rPr>
              <a:t>Security &amp; Licensing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61695" y="1815998"/>
            <a:ext cx="10668305" cy="0"/>
          </a:xfrm>
          <a:prstGeom prst="line">
            <a:avLst/>
          </a:prstGeom>
          <a:noFill/>
          <a:ln w="12700">
            <a:solidFill>
              <a:srgbClr val="DA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1695" y="1946758"/>
            <a:ext cx="10668305" cy="1975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generated POS is cryptographically bound and verified at runtime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61695" y="2565806"/>
            <a:ext cx="1910182" cy="838505"/>
          </a:xfrm>
          <a:prstGeom prst="roundRect">
            <a:avLst>
              <a:gd name="adj" fmla="val 12105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77494" y="2775204"/>
            <a:ext cx="75895" cy="75895"/>
          </a:xfrm>
          <a:prstGeom prst="ellipse">
            <a:avLst/>
          </a:prstGeom>
          <a:ln w="30480">
            <a:solidFill>
              <a:srgbClr val="B15A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6404" y="2851099"/>
            <a:ext cx="139903" cy="152705"/>
          </a:xfrm>
          <a:prstGeom prst="arc">
            <a:avLst>
              <a:gd name="adj1" fmla="val 10800000"/>
              <a:gd name="adj2" fmla="val 21600000"/>
            </a:avLst>
          </a:prstGeom>
          <a:ln w="30480">
            <a:solidFill>
              <a:srgbClr val="B15A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7202" y="3096158"/>
            <a:ext cx="1655978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Client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63317" y="2921508"/>
            <a:ext cx="105156" cy="126187"/>
          </a:xfrm>
          <a:prstGeom prst="chevron">
            <a:avLst/>
          </a:prstGeom>
          <a:solidFill>
            <a:srgbClr val="B15A38"/>
          </a:solidFill>
          <a:ln/>
        </p:spPr>
      </p:sp>
      <p:sp>
        <p:nvSpPr>
          <p:cNvPr id="11" name="Shape 9"/>
          <p:cNvSpPr/>
          <p:nvPr/>
        </p:nvSpPr>
        <p:spPr>
          <a:xfrm>
            <a:off x="2951683" y="2565806"/>
            <a:ext cx="1910182" cy="838505"/>
          </a:xfrm>
          <a:prstGeom prst="roundRect">
            <a:avLst>
              <a:gd name="adj" fmla="val 12105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35478" y="2794406"/>
            <a:ext cx="139903" cy="101498"/>
          </a:xfrm>
          <a:prstGeom prst="roundRect">
            <a:avLst>
              <a:gd name="adj" fmla="val 12613"/>
            </a:avLst>
          </a:prstGeom>
          <a:ln w="27940">
            <a:solidFill>
              <a:srgbClr val="B15A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35478" y="2838298"/>
            <a:ext cx="139903" cy="0"/>
          </a:xfrm>
          <a:prstGeom prst="line">
            <a:avLst/>
          </a:prstGeom>
          <a:noFill/>
          <a:ln w="25400">
            <a:solidFill>
              <a:srgbClr val="B15A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61995" y="2858414"/>
            <a:ext cx="22860" cy="22860"/>
          </a:xfrm>
          <a:prstGeom prst="ellipse">
            <a:avLst/>
          </a:prstGeom>
          <a:solidFill>
            <a:srgbClr val="B15A38"/>
          </a:solidFill>
          <a:ln/>
        </p:spPr>
      </p:sp>
      <p:sp>
        <p:nvSpPr>
          <p:cNvPr id="15" name="Shape 13"/>
          <p:cNvSpPr/>
          <p:nvPr/>
        </p:nvSpPr>
        <p:spPr>
          <a:xfrm>
            <a:off x="3212287" y="2870302"/>
            <a:ext cx="38405" cy="0"/>
          </a:xfrm>
          <a:prstGeom prst="line">
            <a:avLst/>
          </a:prstGeom>
          <a:noFill/>
          <a:ln w="22860">
            <a:solidFill>
              <a:srgbClr val="B15A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16275" y="3096158"/>
            <a:ext cx="1655978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Licence issued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52390" y="2921508"/>
            <a:ext cx="105156" cy="126187"/>
          </a:xfrm>
          <a:prstGeom prst="chevron">
            <a:avLst/>
          </a:prstGeom>
          <a:solidFill>
            <a:srgbClr val="B15A38"/>
          </a:solidFill>
          <a:ln/>
        </p:spPr>
      </p:sp>
      <p:sp>
        <p:nvSpPr>
          <p:cNvPr id="18" name="Shape 16"/>
          <p:cNvSpPr/>
          <p:nvPr/>
        </p:nvSpPr>
        <p:spPr>
          <a:xfrm>
            <a:off x="5140757" y="2565806"/>
            <a:ext cx="1910182" cy="838505"/>
          </a:xfrm>
          <a:prstGeom prst="roundRect">
            <a:avLst>
              <a:gd name="adj" fmla="val 12105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12664" y="2762402"/>
            <a:ext cx="165506" cy="165506"/>
          </a:xfrm>
          <a:prstGeom prst="gear6">
            <a:avLst/>
          </a:prstGeom>
          <a:ln w="25400">
            <a:solidFill>
              <a:srgbClr val="B15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6263" y="3096158"/>
            <a:ext cx="1655978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Signature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41464" y="2921508"/>
            <a:ext cx="105156" cy="126187"/>
          </a:xfrm>
          <a:prstGeom prst="chevron">
            <a:avLst/>
          </a:prstGeom>
          <a:solidFill>
            <a:srgbClr val="B15A38"/>
          </a:solidFill>
          <a:ln/>
        </p:spPr>
      </p:sp>
      <p:sp>
        <p:nvSpPr>
          <p:cNvPr id="22" name="Shape 20"/>
          <p:cNvSpPr/>
          <p:nvPr/>
        </p:nvSpPr>
        <p:spPr>
          <a:xfrm>
            <a:off x="7330745" y="2565806"/>
            <a:ext cx="1910182" cy="838505"/>
          </a:xfrm>
          <a:prstGeom prst="roundRect">
            <a:avLst>
              <a:gd name="adj" fmla="val 12105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20940" y="2775204"/>
            <a:ext cx="127102" cy="139903"/>
          </a:xfrm>
          <a:prstGeom prst="can">
            <a:avLst/>
          </a:prstGeom>
          <a:ln w="27940">
            <a:solidFill>
              <a:srgbClr val="B15A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5337" y="3096158"/>
            <a:ext cx="1655978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Machine binding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331452" y="2921508"/>
            <a:ext cx="105156" cy="126187"/>
          </a:xfrm>
          <a:prstGeom prst="chevron">
            <a:avLst/>
          </a:prstGeom>
          <a:solidFill>
            <a:srgbClr val="B15A38"/>
          </a:solidFill>
          <a:ln/>
        </p:spPr>
      </p:sp>
      <p:sp>
        <p:nvSpPr>
          <p:cNvPr id="26" name="Shape 24"/>
          <p:cNvSpPr/>
          <p:nvPr/>
        </p:nvSpPr>
        <p:spPr>
          <a:xfrm>
            <a:off x="9519818" y="2565806"/>
            <a:ext cx="1910182" cy="838505"/>
          </a:xfrm>
          <a:prstGeom prst="roundRect">
            <a:avLst>
              <a:gd name="adj" fmla="val 12105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 rot="10800000">
            <a:off x="9704527" y="2768803"/>
            <a:ext cx="139903" cy="152705"/>
          </a:xfrm>
          <a:prstGeom prst="pentagon">
            <a:avLst/>
          </a:prstGeom>
          <a:ln w="27940">
            <a:solidFill>
              <a:srgbClr val="B15A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48418" y="2851099"/>
            <a:ext cx="19202" cy="19202"/>
          </a:xfrm>
          <a:prstGeom prst="line">
            <a:avLst/>
          </a:prstGeom>
          <a:noFill/>
          <a:ln w="30480">
            <a:solidFill>
              <a:srgbClr val="B15A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9767621" y="2819095"/>
            <a:ext cx="38405" cy="51206"/>
          </a:xfrm>
          <a:prstGeom prst="line">
            <a:avLst/>
          </a:prstGeom>
          <a:noFill/>
          <a:ln w="30480">
            <a:solidFill>
              <a:srgbClr val="B15A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85325" y="3096158"/>
            <a:ext cx="1655978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Runtime check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61695" y="3948379"/>
            <a:ext cx="10668305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kern="0" spc="140" dirty="0">
                <a:solidFill>
                  <a:srgbClr val="8A86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IT IS PROTECTED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761695" y="4216298"/>
            <a:ext cx="1943100" cy="1270102"/>
          </a:xfrm>
          <a:prstGeom prst="roundRect">
            <a:avLst>
              <a:gd name="adj" fmla="val 11015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5606" y="4448556"/>
            <a:ext cx="156179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Ed25519 signatures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65606" y="4749394"/>
            <a:ext cx="279806" cy="0"/>
          </a:xfrm>
          <a:prstGeom prst="line">
            <a:avLst/>
          </a:prstGeom>
          <a:noFill/>
          <a:ln w="38100">
            <a:solidFill>
              <a:srgbClr val="B15A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5606" y="4891126"/>
            <a:ext cx="1561795" cy="1102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8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tamper-evident licence payload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2943454" y="4216298"/>
            <a:ext cx="1943100" cy="1270102"/>
          </a:xfrm>
          <a:prstGeom prst="roundRect">
            <a:avLst>
              <a:gd name="adj" fmla="val 11015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46450" y="4448556"/>
            <a:ext cx="156179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AES + HMAC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146450" y="4749394"/>
            <a:ext cx="279806" cy="0"/>
          </a:xfrm>
          <a:prstGeom prst="line">
            <a:avLst/>
          </a:prstGeom>
          <a:noFill/>
          <a:ln w="38100">
            <a:solidFill>
              <a:srgbClr val="B15A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46450" y="4891126"/>
            <a:ext cx="1561795" cy="1102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8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&amp; integrity-checked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5124298" y="4216298"/>
            <a:ext cx="1943100" cy="1270102"/>
          </a:xfrm>
          <a:prstGeom prst="roundRect">
            <a:avLst>
              <a:gd name="adj" fmla="val 11015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27294" y="4448556"/>
            <a:ext cx="156179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Machine fingerprint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327294" y="4749394"/>
            <a:ext cx="279806" cy="0"/>
          </a:xfrm>
          <a:prstGeom prst="line">
            <a:avLst/>
          </a:prstGeom>
          <a:noFill/>
          <a:ln w="38100">
            <a:solidFill>
              <a:srgbClr val="B15A3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27294" y="4891126"/>
            <a:ext cx="1561795" cy="1102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8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SHA-256 hardware identity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7306056" y="4216298"/>
            <a:ext cx="1943100" cy="1270102"/>
          </a:xfrm>
          <a:prstGeom prst="roundRect">
            <a:avLst>
              <a:gd name="adj" fmla="val 11015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09053" y="4448556"/>
            <a:ext cx="156179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USB verification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509053" y="4749394"/>
            <a:ext cx="279806" cy="0"/>
          </a:xfrm>
          <a:prstGeom prst="line">
            <a:avLst/>
          </a:prstGeom>
          <a:noFill/>
          <a:ln w="38100">
            <a:solidFill>
              <a:srgbClr val="B15A3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09053" y="4891126"/>
            <a:ext cx="1561795" cy="1102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8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portable licence carrier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9486900" y="4216298"/>
            <a:ext cx="1943100" cy="1270102"/>
          </a:xfrm>
          <a:prstGeom prst="roundRect">
            <a:avLst>
              <a:gd name="adj" fmla="val 11015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89897" y="4448556"/>
            <a:ext cx="156179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Role-based access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9689897" y="4749394"/>
            <a:ext cx="279806" cy="0"/>
          </a:xfrm>
          <a:prstGeom prst="line">
            <a:avLst/>
          </a:prstGeom>
          <a:noFill/>
          <a:ln w="38100">
            <a:solidFill>
              <a:srgbClr val="B15A3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89897" y="4891126"/>
            <a:ext cx="1561795" cy="1102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8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enforced server-side</a:t>
            </a:r>
            <a:endParaRPr lang="en-US" sz="780" dirty="0"/>
          </a:p>
        </p:txBody>
      </p:sp>
      <p:sp>
        <p:nvSpPr>
          <p:cNvPr id="52" name="Text 50"/>
          <p:cNvSpPr/>
          <p:nvPr/>
        </p:nvSpPr>
        <p:spPr>
          <a:xfrm>
            <a:off x="761695" y="6424574"/>
            <a:ext cx="10668305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kern="0" spc="70" dirty="0">
                <a:solidFill>
                  <a:srgbClr val="8A86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CarthaPOS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761695" y="6424574"/>
            <a:ext cx="10668305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70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20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848563"/>
            <a:ext cx="1066830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kern="0" spc="170" dirty="0">
                <a:solidFill>
                  <a:srgbClr val="B15A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11 · ACCESS CONTROL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61695" y="1070762"/>
            <a:ext cx="10668305" cy="5660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3300" dirty="0">
                <a:solidFill>
                  <a:srgbClr val="1D1D1F"/>
                </a:solidFill>
                <a:latin typeface="Segoe UI Semilight" pitchFamily="34" charset="0"/>
                <a:ea typeface="Segoe UI Semilight" pitchFamily="34" charset="-122"/>
                <a:cs typeface="Segoe UI Semilight" pitchFamily="34" charset="-120"/>
              </a:rPr>
              <a:t>Role-Based Access Control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61695" y="1815998"/>
            <a:ext cx="10668305" cy="0"/>
          </a:xfrm>
          <a:prstGeom prst="line">
            <a:avLst/>
          </a:prstGeom>
          <a:noFill/>
          <a:ln w="12700">
            <a:solidFill>
              <a:srgbClr val="DA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1695" y="1946758"/>
            <a:ext cx="10668305" cy="1975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single permission model gates both the API and the interface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61695" y="2565806"/>
            <a:ext cx="4572000" cy="609905"/>
          </a:xfrm>
          <a:prstGeom prst="roundRect">
            <a:avLst>
              <a:gd name="adj" fmla="val 14543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1695" y="2746858"/>
            <a:ext cx="4572000" cy="1801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Users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47695" y="3213202"/>
            <a:ext cx="0" cy="202997"/>
          </a:xfrm>
          <a:prstGeom prst="line">
            <a:avLst/>
          </a:prstGeom>
          <a:noFill/>
          <a:ln w="27940">
            <a:solidFill>
              <a:srgbClr val="8A867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143000" y="3454603"/>
            <a:ext cx="3810305" cy="609905"/>
          </a:xfrm>
          <a:prstGeom prst="roundRect">
            <a:avLst>
              <a:gd name="adj" fmla="val 14543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3635654"/>
            <a:ext cx="3810305" cy="1801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Roles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47695" y="4101998"/>
            <a:ext cx="0" cy="202997"/>
          </a:xfrm>
          <a:prstGeom prst="line">
            <a:avLst/>
          </a:prstGeom>
          <a:noFill/>
          <a:ln w="27940">
            <a:solidFill>
              <a:srgbClr val="8A867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524305" y="4343400"/>
            <a:ext cx="3047695" cy="609905"/>
          </a:xfrm>
          <a:prstGeom prst="roundRect">
            <a:avLst>
              <a:gd name="adj" fmla="val 14543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24305" y="4524451"/>
            <a:ext cx="3047695" cy="1801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Permissions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47695" y="4990795"/>
            <a:ext cx="0" cy="202997"/>
          </a:xfrm>
          <a:prstGeom prst="line">
            <a:avLst/>
          </a:prstGeom>
          <a:noFill/>
          <a:ln w="27940">
            <a:solidFill>
              <a:srgbClr val="8A867C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904695" y="5232197"/>
            <a:ext cx="2286000" cy="609905"/>
          </a:xfrm>
          <a:prstGeom prst="roundRect">
            <a:avLst>
              <a:gd name="adj" fmla="val 14543"/>
            </a:avLst>
          </a:prstGeom>
          <a:solidFill>
            <a:srgbClr val="EFEBDF"/>
          </a:solidFill>
          <a:ln w="25400">
            <a:solidFill>
              <a:srgbClr val="B15A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04695" y="5414162"/>
            <a:ext cx="2286000" cy="1801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Protected routes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23406" y="2474366"/>
            <a:ext cx="5206594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kern="0" spc="140" dirty="0">
                <a:solidFill>
                  <a:srgbClr val="8A86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ROLES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223406" y="2743200"/>
            <a:ext cx="5206594" cy="381305"/>
          </a:xfrm>
          <a:prstGeom prst="roundRect">
            <a:avLst>
              <a:gd name="adj" fmla="val 19904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72454" y="2905049"/>
            <a:ext cx="57607" cy="57607"/>
          </a:xfrm>
          <a:prstGeom prst="ellipse">
            <a:avLst/>
          </a:prstGeom>
          <a:solidFill>
            <a:srgbClr val="B15A38"/>
          </a:solidFill>
          <a:ln/>
        </p:spPr>
      </p:sp>
      <p:sp>
        <p:nvSpPr>
          <p:cNvPr id="20" name="Text 18"/>
          <p:cNvSpPr/>
          <p:nvPr/>
        </p:nvSpPr>
        <p:spPr>
          <a:xfrm>
            <a:off x="6540703" y="2848356"/>
            <a:ext cx="488929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kern="0" spc="2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SUPER_ADMIN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23406" y="3251606"/>
            <a:ext cx="5206594" cy="381305"/>
          </a:xfrm>
          <a:prstGeom prst="roundRect">
            <a:avLst>
              <a:gd name="adj" fmla="val 19904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72454" y="3413455"/>
            <a:ext cx="57607" cy="57607"/>
          </a:xfrm>
          <a:prstGeom prst="ellipse">
            <a:avLst/>
          </a:prstGeom>
          <a:solidFill>
            <a:srgbClr val="8A867C"/>
          </a:solidFill>
          <a:ln/>
        </p:spPr>
      </p:sp>
      <p:sp>
        <p:nvSpPr>
          <p:cNvPr id="23" name="Text 21"/>
          <p:cNvSpPr/>
          <p:nvPr/>
        </p:nvSpPr>
        <p:spPr>
          <a:xfrm>
            <a:off x="6540703" y="3356762"/>
            <a:ext cx="488929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kern="0" spc="2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23406" y="3759098"/>
            <a:ext cx="5206594" cy="381305"/>
          </a:xfrm>
          <a:prstGeom prst="roundRect">
            <a:avLst>
              <a:gd name="adj" fmla="val 19904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72454" y="3920947"/>
            <a:ext cx="57607" cy="57607"/>
          </a:xfrm>
          <a:prstGeom prst="ellipse">
            <a:avLst/>
          </a:prstGeom>
          <a:solidFill>
            <a:srgbClr val="8A867C"/>
          </a:solidFill>
          <a:ln/>
        </p:spPr>
      </p:sp>
      <p:sp>
        <p:nvSpPr>
          <p:cNvPr id="26" name="Text 24"/>
          <p:cNvSpPr/>
          <p:nvPr/>
        </p:nvSpPr>
        <p:spPr>
          <a:xfrm>
            <a:off x="6540703" y="3865169"/>
            <a:ext cx="488929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kern="0" spc="2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23406" y="4267505"/>
            <a:ext cx="5206594" cy="381305"/>
          </a:xfrm>
          <a:prstGeom prst="roundRect">
            <a:avLst>
              <a:gd name="adj" fmla="val 19904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72454" y="4429354"/>
            <a:ext cx="57607" cy="57607"/>
          </a:xfrm>
          <a:prstGeom prst="ellipse">
            <a:avLst/>
          </a:prstGeom>
          <a:solidFill>
            <a:srgbClr val="8A867C"/>
          </a:solidFill>
          <a:ln/>
        </p:spPr>
      </p:sp>
      <p:sp>
        <p:nvSpPr>
          <p:cNvPr id="29" name="Text 27"/>
          <p:cNvSpPr/>
          <p:nvPr/>
        </p:nvSpPr>
        <p:spPr>
          <a:xfrm>
            <a:off x="6540703" y="4372661"/>
            <a:ext cx="488929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kern="0" spc="2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BI_SPECIALIST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23406" y="4990795"/>
            <a:ext cx="2527402" cy="838505"/>
          </a:xfrm>
          <a:prstGeom prst="roundRect">
            <a:avLst>
              <a:gd name="adj" fmla="val 13631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73698" y="5196535"/>
            <a:ext cx="242590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2000" dirty="0">
                <a:solidFill>
                  <a:srgbClr val="B15A3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35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273698" y="5557723"/>
            <a:ext cx="2425903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3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permission keys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8902598" y="4990795"/>
            <a:ext cx="2527402" cy="838505"/>
          </a:xfrm>
          <a:prstGeom prst="roundRect">
            <a:avLst>
              <a:gd name="adj" fmla="val 13631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953805" y="5196535"/>
            <a:ext cx="242590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2000" dirty="0">
                <a:solidFill>
                  <a:srgbClr val="4A6B86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10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8953805" y="5557723"/>
            <a:ext cx="2425903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3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permission groups</a:t>
            </a:r>
            <a:endParaRPr lang="en-US" sz="830" dirty="0"/>
          </a:p>
        </p:txBody>
      </p:sp>
      <p:sp>
        <p:nvSpPr>
          <p:cNvPr id="36" name="Text 34"/>
          <p:cNvSpPr/>
          <p:nvPr/>
        </p:nvSpPr>
        <p:spPr>
          <a:xfrm>
            <a:off x="761695" y="6424574"/>
            <a:ext cx="10668305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kern="0" spc="70" dirty="0">
                <a:solidFill>
                  <a:srgbClr val="8A86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CarthaPOS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761695" y="6424574"/>
            <a:ext cx="10668305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70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20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848563"/>
            <a:ext cx="1066830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kern="0" spc="170" dirty="0">
                <a:solidFill>
                  <a:srgbClr val="B15A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 · BUSINESS INTELLIGENCE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61695" y="1070762"/>
            <a:ext cx="10668305" cy="5660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3300" dirty="0">
                <a:solidFill>
                  <a:srgbClr val="1D1D1F"/>
                </a:solidFill>
                <a:latin typeface="Segoe UI Semilight" pitchFamily="34" charset="0"/>
                <a:ea typeface="Segoe UI Semilight" pitchFamily="34" charset="-122"/>
                <a:cs typeface="Segoe UI Semilight" pitchFamily="34" charset="-120"/>
              </a:rPr>
              <a:t>From POS Data to Business Intelligence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61695" y="1815998"/>
            <a:ext cx="10668305" cy="0"/>
          </a:xfrm>
          <a:prstGeom prst="line">
            <a:avLst/>
          </a:prstGeom>
          <a:noFill/>
          <a:ln w="12700">
            <a:solidFill>
              <a:srgbClr val="DA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1695" y="1946758"/>
            <a:ext cx="10668305" cy="1975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governed pipeline turns raw exports into per-client dashboards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61695" y="2565806"/>
            <a:ext cx="2447849" cy="685800"/>
          </a:xfrm>
          <a:prstGeom prst="roundRect">
            <a:avLst>
              <a:gd name="adj" fmla="val 12933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4906" y="2812694"/>
            <a:ext cx="190195" cy="190195"/>
          </a:xfrm>
          <a:prstGeom prst="ellipse">
            <a:avLst/>
          </a:prstGeom>
          <a:solidFill>
            <a:srgbClr val="EFEBDF"/>
          </a:solidFill>
          <a:ln/>
        </p:spPr>
      </p:sp>
      <p:sp>
        <p:nvSpPr>
          <p:cNvPr id="8" name="Text 6"/>
          <p:cNvSpPr/>
          <p:nvPr/>
        </p:nvSpPr>
        <p:spPr>
          <a:xfrm>
            <a:off x="812902" y="2817266"/>
            <a:ext cx="254203" cy="128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43695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04595" y="2804465"/>
            <a:ext cx="2003450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 export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67151" y="2908706"/>
            <a:ext cx="190195" cy="0"/>
          </a:xfrm>
          <a:prstGeom prst="line">
            <a:avLst/>
          </a:prstGeom>
          <a:noFill/>
          <a:ln w="25400">
            <a:solidFill>
              <a:srgbClr val="8A867C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02152" y="2565806"/>
            <a:ext cx="2447849" cy="685800"/>
          </a:xfrm>
          <a:prstGeom prst="roundRect">
            <a:avLst>
              <a:gd name="adj" fmla="val 12933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84448" y="2812694"/>
            <a:ext cx="190195" cy="190195"/>
          </a:xfrm>
          <a:prstGeom prst="ellipse">
            <a:avLst/>
          </a:prstGeom>
          <a:solidFill>
            <a:srgbClr val="EFEBDF"/>
          </a:solidFill>
          <a:ln/>
        </p:spPr>
      </p:sp>
      <p:sp>
        <p:nvSpPr>
          <p:cNvPr id="13" name="Text 11"/>
          <p:cNvSpPr/>
          <p:nvPr/>
        </p:nvSpPr>
        <p:spPr>
          <a:xfrm>
            <a:off x="3552444" y="2817266"/>
            <a:ext cx="254203" cy="128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43695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845052" y="2804465"/>
            <a:ext cx="2003450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(ZIP)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06694" y="2908706"/>
            <a:ext cx="190195" cy="0"/>
          </a:xfrm>
          <a:prstGeom prst="line">
            <a:avLst/>
          </a:prstGeom>
          <a:noFill/>
          <a:ln w="25400">
            <a:solidFill>
              <a:srgbClr val="8A867C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41694" y="2565806"/>
            <a:ext cx="2447849" cy="685800"/>
          </a:xfrm>
          <a:prstGeom prst="roundRect">
            <a:avLst>
              <a:gd name="adj" fmla="val 12933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24905" y="2812694"/>
            <a:ext cx="190195" cy="190195"/>
          </a:xfrm>
          <a:prstGeom prst="ellipse">
            <a:avLst/>
          </a:prstGeom>
          <a:solidFill>
            <a:srgbClr val="EFEBDF"/>
          </a:solidFill>
          <a:ln/>
        </p:spPr>
      </p:sp>
      <p:sp>
        <p:nvSpPr>
          <p:cNvPr id="18" name="Text 16"/>
          <p:cNvSpPr/>
          <p:nvPr/>
        </p:nvSpPr>
        <p:spPr>
          <a:xfrm>
            <a:off x="6292901" y="2817266"/>
            <a:ext cx="254203" cy="128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43695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584594" y="2804465"/>
            <a:ext cx="2003450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 request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747150" y="2908706"/>
            <a:ext cx="190195" cy="0"/>
          </a:xfrm>
          <a:prstGeom prst="line">
            <a:avLst/>
          </a:prstGeom>
          <a:noFill/>
          <a:ln w="25400">
            <a:solidFill>
              <a:srgbClr val="8A867C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982151" y="2565806"/>
            <a:ext cx="2447849" cy="685800"/>
          </a:xfrm>
          <a:prstGeom prst="roundRect">
            <a:avLst>
              <a:gd name="adj" fmla="val 12933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64447" y="2812694"/>
            <a:ext cx="190195" cy="190195"/>
          </a:xfrm>
          <a:prstGeom prst="ellipse">
            <a:avLst/>
          </a:prstGeom>
          <a:solidFill>
            <a:srgbClr val="EFEBDF"/>
          </a:solidFill>
          <a:ln/>
        </p:spPr>
      </p:sp>
      <p:sp>
        <p:nvSpPr>
          <p:cNvPr id="23" name="Text 21"/>
          <p:cNvSpPr/>
          <p:nvPr/>
        </p:nvSpPr>
        <p:spPr>
          <a:xfrm>
            <a:off x="9032443" y="2817266"/>
            <a:ext cx="254203" cy="128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43695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325051" y="2804465"/>
            <a:ext cx="2003450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205618" y="3276295"/>
            <a:ext cx="0" cy="254203"/>
          </a:xfrm>
          <a:prstGeom prst="line">
            <a:avLst/>
          </a:prstGeom>
          <a:noFill/>
          <a:ln w="17780">
            <a:solidFill>
              <a:srgbClr val="DAD4C4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1986077" y="3530498"/>
            <a:ext cx="8220456" cy="0"/>
          </a:xfrm>
          <a:prstGeom prst="line">
            <a:avLst/>
          </a:prstGeom>
          <a:noFill/>
          <a:ln w="17780">
            <a:solidFill>
              <a:srgbClr val="DAD4C4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1986077" y="3530498"/>
            <a:ext cx="0" cy="254203"/>
          </a:xfrm>
          <a:prstGeom prst="line">
            <a:avLst/>
          </a:prstGeom>
          <a:noFill/>
          <a:ln w="17780">
            <a:solidFill>
              <a:srgbClr val="DAD4C4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61695" y="3784702"/>
            <a:ext cx="2447849" cy="685800"/>
          </a:xfrm>
          <a:prstGeom prst="roundRect">
            <a:avLst>
              <a:gd name="adj" fmla="val 12933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4906" y="4032504"/>
            <a:ext cx="190195" cy="190195"/>
          </a:xfrm>
          <a:prstGeom prst="ellipse">
            <a:avLst/>
          </a:prstGeom>
          <a:solidFill>
            <a:srgbClr val="EFEBDF"/>
          </a:solidFill>
          <a:ln/>
        </p:spPr>
      </p:sp>
      <p:sp>
        <p:nvSpPr>
          <p:cNvPr id="30" name="Text 28"/>
          <p:cNvSpPr/>
          <p:nvPr/>
        </p:nvSpPr>
        <p:spPr>
          <a:xfrm>
            <a:off x="812902" y="4037076"/>
            <a:ext cx="254203" cy="128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43695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04595" y="4023360"/>
            <a:ext cx="2003450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ETL pipeline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67151" y="4127602"/>
            <a:ext cx="190195" cy="0"/>
          </a:xfrm>
          <a:prstGeom prst="line">
            <a:avLst/>
          </a:prstGeom>
          <a:noFill/>
          <a:ln w="25400">
            <a:solidFill>
              <a:srgbClr val="8A867C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502152" y="3784702"/>
            <a:ext cx="2447849" cy="685800"/>
          </a:xfrm>
          <a:prstGeom prst="roundRect">
            <a:avLst>
              <a:gd name="adj" fmla="val 12933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584448" y="4032504"/>
            <a:ext cx="190195" cy="190195"/>
          </a:xfrm>
          <a:prstGeom prst="ellipse">
            <a:avLst/>
          </a:prstGeom>
          <a:solidFill>
            <a:srgbClr val="EFEBDF"/>
          </a:solidFill>
          <a:ln/>
        </p:spPr>
      </p:sp>
      <p:sp>
        <p:nvSpPr>
          <p:cNvPr id="35" name="Text 33"/>
          <p:cNvSpPr/>
          <p:nvPr/>
        </p:nvSpPr>
        <p:spPr>
          <a:xfrm>
            <a:off x="3552444" y="4037076"/>
            <a:ext cx="254203" cy="128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43695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845052" y="4023360"/>
            <a:ext cx="2003450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Warehouse load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06694" y="4127602"/>
            <a:ext cx="190195" cy="0"/>
          </a:xfrm>
          <a:prstGeom prst="line">
            <a:avLst/>
          </a:prstGeom>
          <a:noFill/>
          <a:ln w="25400">
            <a:solidFill>
              <a:srgbClr val="8A867C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241694" y="3784702"/>
            <a:ext cx="2447849" cy="685800"/>
          </a:xfrm>
          <a:prstGeom prst="roundRect">
            <a:avLst>
              <a:gd name="adj" fmla="val 12933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324905" y="4032504"/>
            <a:ext cx="190195" cy="190195"/>
          </a:xfrm>
          <a:prstGeom prst="ellipse">
            <a:avLst/>
          </a:prstGeom>
          <a:solidFill>
            <a:srgbClr val="EFEBDF"/>
          </a:solidFill>
          <a:ln/>
        </p:spPr>
      </p:sp>
      <p:sp>
        <p:nvSpPr>
          <p:cNvPr id="40" name="Text 38"/>
          <p:cNvSpPr/>
          <p:nvPr/>
        </p:nvSpPr>
        <p:spPr>
          <a:xfrm>
            <a:off x="6292901" y="4037076"/>
            <a:ext cx="254203" cy="128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43695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584594" y="4023360"/>
            <a:ext cx="2003450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747150" y="4127602"/>
            <a:ext cx="190195" cy="0"/>
          </a:xfrm>
          <a:prstGeom prst="line">
            <a:avLst/>
          </a:prstGeom>
          <a:noFill/>
          <a:ln w="25400">
            <a:solidFill>
              <a:srgbClr val="8A867C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8982151" y="3784702"/>
            <a:ext cx="2447849" cy="685800"/>
          </a:xfrm>
          <a:prstGeom prst="roundRect">
            <a:avLst>
              <a:gd name="adj" fmla="val 12933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064447" y="4032504"/>
            <a:ext cx="190195" cy="190195"/>
          </a:xfrm>
          <a:prstGeom prst="ellipse">
            <a:avLst/>
          </a:prstGeom>
          <a:solidFill>
            <a:srgbClr val="EFEBDF"/>
          </a:solidFill>
          <a:ln/>
        </p:spPr>
      </p:sp>
      <p:sp>
        <p:nvSpPr>
          <p:cNvPr id="45" name="Text 43"/>
          <p:cNvSpPr/>
          <p:nvPr/>
        </p:nvSpPr>
        <p:spPr>
          <a:xfrm>
            <a:off x="9032443" y="4037076"/>
            <a:ext cx="254203" cy="128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43695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9325051" y="4023360"/>
            <a:ext cx="2003450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insights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61695" y="4851806"/>
            <a:ext cx="2184502" cy="952805"/>
          </a:xfrm>
          <a:prstGeom prst="roundRect">
            <a:avLst>
              <a:gd name="adj" fmla="val 11996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12902" y="5035601"/>
            <a:ext cx="2083003" cy="3941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2300" dirty="0">
                <a:solidFill>
                  <a:srgbClr val="43695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20</a:t>
            </a:r>
            <a:endParaRPr lang="en-US" sz="2300" dirty="0"/>
          </a:p>
        </p:txBody>
      </p:sp>
      <p:sp>
        <p:nvSpPr>
          <p:cNvPr id="49" name="Text 47"/>
          <p:cNvSpPr/>
          <p:nvPr/>
        </p:nvSpPr>
        <p:spPr>
          <a:xfrm>
            <a:off x="812902" y="5485486"/>
            <a:ext cx="2083003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3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 datasets</a:t>
            </a:r>
            <a:endParaRPr lang="en-US" sz="830" dirty="0"/>
          </a:p>
        </p:txBody>
      </p:sp>
      <p:sp>
        <p:nvSpPr>
          <p:cNvPr id="50" name="Text 48"/>
          <p:cNvSpPr/>
          <p:nvPr/>
        </p:nvSpPr>
        <p:spPr>
          <a:xfrm>
            <a:off x="825703" y="5657393"/>
            <a:ext cx="2057400" cy="103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60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BiSchemaContract v2.2.0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3111703" y="4851806"/>
            <a:ext cx="2184502" cy="952805"/>
          </a:xfrm>
          <a:prstGeom prst="roundRect">
            <a:avLst>
              <a:gd name="adj" fmla="val 11996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3161995" y="5035601"/>
            <a:ext cx="2083003" cy="3941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2300" dirty="0">
                <a:solidFill>
                  <a:srgbClr val="43695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246</a:t>
            </a:r>
            <a:endParaRPr lang="en-US" sz="2300" dirty="0"/>
          </a:p>
        </p:txBody>
      </p:sp>
      <p:sp>
        <p:nvSpPr>
          <p:cNvPr id="53" name="Text 51"/>
          <p:cNvSpPr/>
          <p:nvPr/>
        </p:nvSpPr>
        <p:spPr>
          <a:xfrm>
            <a:off x="3161995" y="5485486"/>
            <a:ext cx="2083003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3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columns</a:t>
            </a:r>
            <a:endParaRPr lang="en-US" sz="830" dirty="0"/>
          </a:p>
        </p:txBody>
      </p:sp>
      <p:sp>
        <p:nvSpPr>
          <p:cNvPr id="54" name="Text 52"/>
          <p:cNvSpPr/>
          <p:nvPr/>
        </p:nvSpPr>
        <p:spPr>
          <a:xfrm>
            <a:off x="3174797" y="5657393"/>
            <a:ext cx="2057400" cy="103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60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standardised export contract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5460797" y="4851806"/>
            <a:ext cx="5969203" cy="952805"/>
          </a:xfrm>
          <a:prstGeom prst="roundRect">
            <a:avLst>
              <a:gd name="adj" fmla="val 11996"/>
            </a:avLst>
          </a:prstGeom>
          <a:solidFill>
            <a:srgbClr val="EFEBDF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63794" y="5104181"/>
            <a:ext cx="5766206" cy="103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kern="0" spc="120" dirty="0">
                <a:solidFill>
                  <a:srgbClr val="8A86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METHODOLOGY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663794" y="5331866"/>
            <a:ext cx="5562295" cy="1153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80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GIMSI structures the BI lifecycle — goals, evaluation axes, KPIs, collection, dashboards, interpretation.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61695" y="6424574"/>
            <a:ext cx="10668305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kern="0" spc="70" dirty="0">
                <a:solidFill>
                  <a:srgbClr val="8A86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CarthaPOS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761695" y="6424574"/>
            <a:ext cx="10668305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70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20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848563"/>
            <a:ext cx="1066830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kern="0" spc="170" dirty="0">
                <a:solidFill>
                  <a:srgbClr val="B15A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13 · DATA WAREHOUSE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61695" y="1070762"/>
            <a:ext cx="10668305" cy="5660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3300" dirty="0">
                <a:solidFill>
                  <a:srgbClr val="1D1D1F"/>
                </a:solidFill>
                <a:latin typeface="Segoe UI Semilight" pitchFamily="34" charset="0"/>
                <a:ea typeface="Segoe UI Semilight" pitchFamily="34" charset="-122"/>
                <a:cs typeface="Segoe UI Semilight" pitchFamily="34" charset="-120"/>
              </a:rPr>
              <a:t>Analytical Data Warehouse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61695" y="1815998"/>
            <a:ext cx="10668305" cy="0"/>
          </a:xfrm>
          <a:prstGeom prst="line">
            <a:avLst/>
          </a:prstGeom>
          <a:noFill/>
          <a:ln w="12700">
            <a:solidFill>
              <a:srgbClr val="DA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1695" y="1946758"/>
            <a:ext cx="10668305" cy="1975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tenant-isolated star schema in PostgreSQL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 flipV="1">
            <a:off x="4063594" y="2920594"/>
            <a:ext cx="0" cy="748894"/>
          </a:xfrm>
          <a:prstGeom prst="line">
            <a:avLst/>
          </a:prstGeom>
          <a:noFill/>
          <a:ln w="19050">
            <a:solidFill>
              <a:srgbClr val="DAD4C4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454603" y="2463394"/>
            <a:ext cx="1218895" cy="405994"/>
          </a:xfrm>
          <a:prstGeom prst="roundRect">
            <a:avLst>
              <a:gd name="adj" fmla="val 18694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92094" y="2538374"/>
            <a:ext cx="11430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dim_client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492094" y="2706624"/>
            <a:ext cx="1143000" cy="987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58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dimension</a:t>
            </a:r>
            <a:endParaRPr lang="en-US" sz="580" dirty="0"/>
          </a:p>
        </p:txBody>
      </p:sp>
      <p:sp>
        <p:nvSpPr>
          <p:cNvPr id="10" name="Shape 8"/>
          <p:cNvSpPr/>
          <p:nvPr/>
        </p:nvSpPr>
        <p:spPr>
          <a:xfrm flipV="1">
            <a:off x="4849063" y="3781044"/>
            <a:ext cx="906170" cy="231343"/>
          </a:xfrm>
          <a:prstGeom prst="line">
            <a:avLst/>
          </a:prstGeom>
          <a:noFill/>
          <a:ln w="19050">
            <a:solidFill>
              <a:srgbClr val="DAD4C4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701284" y="3499409"/>
            <a:ext cx="1218895" cy="405994"/>
          </a:xfrm>
          <a:prstGeom prst="roundRect">
            <a:avLst>
              <a:gd name="adj" fmla="val 18694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38774" y="3573475"/>
            <a:ext cx="11430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dim_product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738774" y="3742639"/>
            <a:ext cx="1143000" cy="987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58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dimension</a:t>
            </a:r>
            <a:endParaRPr lang="en-US" sz="580" dirty="0"/>
          </a:p>
        </p:txBody>
      </p:sp>
      <p:sp>
        <p:nvSpPr>
          <p:cNvPr id="14" name="Shape 12"/>
          <p:cNvSpPr/>
          <p:nvPr/>
        </p:nvSpPr>
        <p:spPr>
          <a:xfrm>
            <a:off x="4549140" y="4566514"/>
            <a:ext cx="559613" cy="606247"/>
          </a:xfrm>
          <a:prstGeom prst="line">
            <a:avLst/>
          </a:prstGeom>
          <a:noFill/>
          <a:ln w="19050">
            <a:solidFill>
              <a:srgbClr val="DAD4C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842662" y="5174590"/>
            <a:ext cx="1218895" cy="405994"/>
          </a:xfrm>
          <a:prstGeom prst="roundRect">
            <a:avLst>
              <a:gd name="adj" fmla="val 18694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81067" y="5248656"/>
            <a:ext cx="11430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dim_supplier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81067" y="5417820"/>
            <a:ext cx="1143000" cy="987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58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dimension</a:t>
            </a:r>
            <a:endParaRPr lang="en-US" sz="580" dirty="0"/>
          </a:p>
        </p:txBody>
      </p:sp>
      <p:sp>
        <p:nvSpPr>
          <p:cNvPr id="18" name="Shape 16"/>
          <p:cNvSpPr/>
          <p:nvPr/>
        </p:nvSpPr>
        <p:spPr>
          <a:xfrm flipH="1">
            <a:off x="3019349" y="4566514"/>
            <a:ext cx="559613" cy="606247"/>
          </a:xfrm>
          <a:prstGeom prst="line">
            <a:avLst/>
          </a:prstGeom>
          <a:noFill/>
          <a:ln w="19050">
            <a:solidFill>
              <a:srgbClr val="DAD4C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065630" y="5174590"/>
            <a:ext cx="1218895" cy="405994"/>
          </a:xfrm>
          <a:prstGeom prst="roundRect">
            <a:avLst>
              <a:gd name="adj" fmla="val 18694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4034" y="5248656"/>
            <a:ext cx="11430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dim_customer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104034" y="5417820"/>
            <a:ext cx="1143000" cy="987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58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dimension</a:t>
            </a:r>
            <a:endParaRPr lang="en-US" sz="580" dirty="0"/>
          </a:p>
        </p:txBody>
      </p:sp>
      <p:sp>
        <p:nvSpPr>
          <p:cNvPr id="22" name="Shape 20"/>
          <p:cNvSpPr/>
          <p:nvPr/>
        </p:nvSpPr>
        <p:spPr>
          <a:xfrm flipH="1" flipV="1">
            <a:off x="2372868" y="3781044"/>
            <a:ext cx="906170" cy="231343"/>
          </a:xfrm>
          <a:prstGeom prst="line">
            <a:avLst/>
          </a:prstGeom>
          <a:noFill/>
          <a:ln w="19050">
            <a:solidFill>
              <a:srgbClr val="DAD4C4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207922" y="3499409"/>
            <a:ext cx="1218895" cy="405994"/>
          </a:xfrm>
          <a:prstGeom prst="roundRect">
            <a:avLst>
              <a:gd name="adj" fmla="val 18694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46327" y="3573475"/>
            <a:ext cx="11430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dim_time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246327" y="3742639"/>
            <a:ext cx="1143000" cy="987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58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dimension</a:t>
            </a:r>
            <a:endParaRPr lang="en-US" sz="580" dirty="0"/>
          </a:p>
        </p:txBody>
      </p:sp>
      <p:sp>
        <p:nvSpPr>
          <p:cNvPr id="26" name="Shape 24"/>
          <p:cNvSpPr/>
          <p:nvPr/>
        </p:nvSpPr>
        <p:spPr>
          <a:xfrm>
            <a:off x="3251606" y="3797503"/>
            <a:ext cx="1625803" cy="737006"/>
          </a:xfrm>
          <a:prstGeom prst="roundRect">
            <a:avLst>
              <a:gd name="adj" fmla="val 13772"/>
            </a:avLst>
          </a:prstGeom>
          <a:solidFill>
            <a:srgbClr val="EFEBDF"/>
          </a:solidFill>
          <a:ln w="25400">
            <a:solidFill>
              <a:srgbClr val="B15A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51606" y="3933749"/>
            <a:ext cx="1625803" cy="1883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Fact hub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51606" y="4201668"/>
            <a:ext cx="1625803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0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fact tables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556602" y="2474366"/>
            <a:ext cx="3873398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kern="0" spc="140" dirty="0">
                <a:solidFill>
                  <a:srgbClr val="8A86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FACT TABLES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556602" y="2730398"/>
            <a:ext cx="3873398" cy="267005"/>
          </a:xfrm>
          <a:prstGeom prst="roundRect">
            <a:avLst>
              <a:gd name="adj" fmla="val 23630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58100" y="2806294"/>
            <a:ext cx="82296" cy="114300"/>
          </a:xfrm>
          <a:prstGeom prst="roundRect">
            <a:avLst>
              <a:gd name="adj" fmla="val 23333"/>
            </a:avLst>
          </a:prstGeom>
          <a:ln w="25400">
            <a:solidFill>
              <a:srgbClr val="4369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35494" y="2766974"/>
            <a:ext cx="349209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fact_sales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556602" y="3073298"/>
            <a:ext cx="3873398" cy="267005"/>
          </a:xfrm>
          <a:prstGeom prst="roundRect">
            <a:avLst>
              <a:gd name="adj" fmla="val 23630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58100" y="3149194"/>
            <a:ext cx="82296" cy="114300"/>
          </a:xfrm>
          <a:prstGeom prst="roundRect">
            <a:avLst>
              <a:gd name="adj" fmla="val 23333"/>
            </a:avLst>
          </a:prstGeom>
          <a:ln w="25400">
            <a:solidFill>
              <a:srgbClr val="4369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35494" y="3109874"/>
            <a:ext cx="349209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fact_sale_items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556602" y="3416198"/>
            <a:ext cx="3873398" cy="267005"/>
          </a:xfrm>
          <a:prstGeom prst="roundRect">
            <a:avLst>
              <a:gd name="adj" fmla="val 23630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58100" y="3492094"/>
            <a:ext cx="82296" cy="114300"/>
          </a:xfrm>
          <a:prstGeom prst="roundRect">
            <a:avLst>
              <a:gd name="adj" fmla="val 23333"/>
            </a:avLst>
          </a:prstGeom>
          <a:ln w="25400">
            <a:solidFill>
              <a:srgbClr val="4369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35494" y="3452774"/>
            <a:ext cx="349209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fact_inventory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556602" y="3759098"/>
            <a:ext cx="3873398" cy="267005"/>
          </a:xfrm>
          <a:prstGeom prst="roundRect">
            <a:avLst>
              <a:gd name="adj" fmla="val 23630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58100" y="3834994"/>
            <a:ext cx="82296" cy="114300"/>
          </a:xfrm>
          <a:prstGeom prst="roundRect">
            <a:avLst>
              <a:gd name="adj" fmla="val 23333"/>
            </a:avLst>
          </a:prstGeom>
          <a:ln w="25400">
            <a:solidFill>
              <a:srgbClr val="4369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35494" y="3795674"/>
            <a:ext cx="349209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fact_appointments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556602" y="4101998"/>
            <a:ext cx="3873398" cy="267005"/>
          </a:xfrm>
          <a:prstGeom prst="roundRect">
            <a:avLst>
              <a:gd name="adj" fmla="val 23630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58100" y="4177894"/>
            <a:ext cx="82296" cy="114300"/>
          </a:xfrm>
          <a:prstGeom prst="roundRect">
            <a:avLst>
              <a:gd name="adj" fmla="val 23333"/>
            </a:avLst>
          </a:prstGeom>
          <a:ln w="25400">
            <a:solidFill>
              <a:srgbClr val="4369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35494" y="4138574"/>
            <a:ext cx="349209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fact_kitchen_orders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556602" y="4444898"/>
            <a:ext cx="3873398" cy="267005"/>
          </a:xfrm>
          <a:prstGeom prst="roundRect">
            <a:avLst>
              <a:gd name="adj" fmla="val 23630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58100" y="4520794"/>
            <a:ext cx="82296" cy="114300"/>
          </a:xfrm>
          <a:prstGeom prst="roundRect">
            <a:avLst>
              <a:gd name="adj" fmla="val 23333"/>
            </a:avLst>
          </a:prstGeom>
          <a:ln w="25400">
            <a:solidFill>
              <a:srgbClr val="4369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35494" y="4481474"/>
            <a:ext cx="349209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fact_kitchen_order_items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556602" y="4927702"/>
            <a:ext cx="3873398" cy="901598"/>
          </a:xfrm>
          <a:prstGeom prst="roundRect">
            <a:avLst>
              <a:gd name="adj" fmla="val 11258"/>
            </a:avLst>
          </a:prstGeom>
          <a:solidFill>
            <a:srgbClr val="EFEBDF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715707" y="5105095"/>
            <a:ext cx="38405" cy="38405"/>
          </a:xfrm>
          <a:prstGeom prst="ellipse">
            <a:avLst/>
          </a:prstGeom>
          <a:solidFill>
            <a:srgbClr val="43695E"/>
          </a:solidFill>
          <a:ln/>
        </p:spPr>
      </p:sp>
      <p:sp>
        <p:nvSpPr>
          <p:cNvPr id="50" name="Text 48"/>
          <p:cNvSpPr/>
          <p:nvPr/>
        </p:nvSpPr>
        <p:spPr>
          <a:xfrm>
            <a:off x="7848295" y="5059375"/>
            <a:ext cx="3429000" cy="128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Multi-tenant — every row carries tenantId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7715707" y="5333695"/>
            <a:ext cx="38405" cy="38405"/>
          </a:xfrm>
          <a:prstGeom prst="ellipse">
            <a:avLst/>
          </a:prstGeom>
          <a:solidFill>
            <a:srgbClr val="43695E"/>
          </a:solidFill>
          <a:ln/>
        </p:spPr>
      </p:sp>
      <p:sp>
        <p:nvSpPr>
          <p:cNvPr id="52" name="Text 50"/>
          <p:cNvSpPr/>
          <p:nvPr/>
        </p:nvSpPr>
        <p:spPr>
          <a:xfrm>
            <a:off x="7848295" y="5287975"/>
            <a:ext cx="3429000" cy="128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Conformed dim_time across all facts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715707" y="5562295"/>
            <a:ext cx="38405" cy="38405"/>
          </a:xfrm>
          <a:prstGeom prst="ellipse">
            <a:avLst/>
          </a:prstGeom>
          <a:solidFill>
            <a:srgbClr val="43695E"/>
          </a:solidFill>
          <a:ln/>
        </p:spPr>
      </p:sp>
      <p:sp>
        <p:nvSpPr>
          <p:cNvPr id="54" name="Text 52"/>
          <p:cNvSpPr/>
          <p:nvPr/>
        </p:nvSpPr>
        <p:spPr>
          <a:xfrm>
            <a:off x="7848295" y="5516575"/>
            <a:ext cx="3429000" cy="128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Idempotent ETL — safe to re-run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61695" y="6424574"/>
            <a:ext cx="10668305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kern="0" spc="70" dirty="0">
                <a:solidFill>
                  <a:srgbClr val="8A86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CarthaPOS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761695" y="6424574"/>
            <a:ext cx="10668305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70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/ 20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848563"/>
            <a:ext cx="1066830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kern="0" spc="170" dirty="0">
                <a:solidFill>
                  <a:srgbClr val="B15A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14 · METABASE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61695" y="1070762"/>
            <a:ext cx="10668305" cy="5660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3300" dirty="0">
                <a:solidFill>
                  <a:srgbClr val="1D1D1F"/>
                </a:solidFill>
                <a:latin typeface="Segoe UI Semilight" pitchFamily="34" charset="0"/>
                <a:ea typeface="Segoe UI Semilight" pitchFamily="34" charset="-122"/>
                <a:cs typeface="Segoe UI Semilight" pitchFamily="34" charset="-120"/>
              </a:rPr>
              <a:t>Personalized BI Dashboards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61695" y="1815998"/>
            <a:ext cx="10668305" cy="0"/>
          </a:xfrm>
          <a:prstGeom prst="line">
            <a:avLst/>
          </a:prstGeom>
          <a:noFill/>
          <a:ln w="12700">
            <a:solidFill>
              <a:srgbClr val="DA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1695" y="1946758"/>
            <a:ext cx="10668305" cy="1975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Dashboards are provisioned per client, never shared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61695" y="2540203"/>
            <a:ext cx="2457907" cy="685800"/>
          </a:xfrm>
          <a:prstGeom prst="roundRect">
            <a:avLst>
              <a:gd name="adj" fmla="val 14800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27202" y="2804465"/>
            <a:ext cx="2203704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Dashboard template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10128" y="2820010"/>
            <a:ext cx="105156" cy="126187"/>
          </a:xfrm>
          <a:prstGeom prst="chevron">
            <a:avLst/>
          </a:prstGeom>
          <a:solidFill>
            <a:srgbClr val="43695E"/>
          </a:solidFill>
          <a:ln/>
        </p:spPr>
      </p:sp>
      <p:sp>
        <p:nvSpPr>
          <p:cNvPr id="9" name="Shape 7"/>
          <p:cNvSpPr/>
          <p:nvPr/>
        </p:nvSpPr>
        <p:spPr>
          <a:xfrm>
            <a:off x="3498494" y="2540203"/>
            <a:ext cx="2457907" cy="685800"/>
          </a:xfrm>
          <a:prstGeom prst="roundRect">
            <a:avLst>
              <a:gd name="adj" fmla="val 14800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64001" y="2804465"/>
            <a:ext cx="2203704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Deep copy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46927" y="2820010"/>
            <a:ext cx="105156" cy="126187"/>
          </a:xfrm>
          <a:prstGeom prst="chevron">
            <a:avLst/>
          </a:prstGeom>
          <a:solidFill>
            <a:srgbClr val="43695E"/>
          </a:solidFill>
          <a:ln/>
        </p:spPr>
      </p:sp>
      <p:sp>
        <p:nvSpPr>
          <p:cNvPr id="12" name="Shape 10"/>
          <p:cNvSpPr/>
          <p:nvPr/>
        </p:nvSpPr>
        <p:spPr>
          <a:xfrm>
            <a:off x="6235294" y="2540203"/>
            <a:ext cx="2457907" cy="685800"/>
          </a:xfrm>
          <a:prstGeom prst="roundRect">
            <a:avLst>
              <a:gd name="adj" fmla="val 14800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2804465"/>
            <a:ext cx="2203704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Tenant filter baked 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783726" y="2820010"/>
            <a:ext cx="105156" cy="126187"/>
          </a:xfrm>
          <a:prstGeom prst="chevron">
            <a:avLst/>
          </a:prstGeom>
          <a:solidFill>
            <a:srgbClr val="43695E"/>
          </a:solidFill>
          <a:ln/>
        </p:spPr>
      </p:sp>
      <p:sp>
        <p:nvSpPr>
          <p:cNvPr id="15" name="Shape 13"/>
          <p:cNvSpPr/>
          <p:nvPr/>
        </p:nvSpPr>
        <p:spPr>
          <a:xfrm>
            <a:off x="8973007" y="2540203"/>
            <a:ext cx="2457907" cy="685800"/>
          </a:xfrm>
          <a:prstGeom prst="roundRect">
            <a:avLst>
              <a:gd name="adj" fmla="val 14800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37599" y="2804465"/>
            <a:ext cx="2203704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Client dashboard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61695" y="3556102"/>
            <a:ext cx="5969203" cy="2083003"/>
          </a:xfrm>
          <a:prstGeom prst="roundRect">
            <a:avLst>
              <a:gd name="adj" fmla="val 5487"/>
            </a:avLst>
          </a:prstGeom>
          <a:solidFill>
            <a:srgbClr val="FFFFFF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61695" y="3847795"/>
            <a:ext cx="5969203" cy="0"/>
          </a:xfrm>
          <a:prstGeom prst="line">
            <a:avLst/>
          </a:prstGeom>
          <a:noFill/>
          <a:ln w="12700">
            <a:solidFill>
              <a:srgbClr val="E6E1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5198" y="3670402"/>
            <a:ext cx="63094" cy="63094"/>
          </a:xfrm>
          <a:prstGeom prst="ellipse">
            <a:avLst/>
          </a:prstGeom>
          <a:solidFill>
            <a:srgbClr val="E1A08C"/>
          </a:solidFill>
          <a:ln/>
        </p:spPr>
      </p:sp>
      <p:sp>
        <p:nvSpPr>
          <p:cNvPr id="20" name="Shape 18"/>
          <p:cNvSpPr/>
          <p:nvPr/>
        </p:nvSpPr>
        <p:spPr>
          <a:xfrm>
            <a:off x="1022299" y="3670402"/>
            <a:ext cx="63094" cy="63094"/>
          </a:xfrm>
          <a:prstGeom prst="ellipse">
            <a:avLst/>
          </a:prstGeom>
          <a:solidFill>
            <a:srgbClr val="E6E1D3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9401" y="3670402"/>
            <a:ext cx="63094" cy="63094"/>
          </a:xfrm>
          <a:prstGeom prst="ellipse">
            <a:avLst/>
          </a:prstGeom>
          <a:solidFill>
            <a:srgbClr val="E6E1D3"/>
          </a:solidFill>
          <a:ln/>
        </p:spPr>
      </p:sp>
      <p:sp>
        <p:nvSpPr>
          <p:cNvPr id="22" name="Text 20"/>
          <p:cNvSpPr/>
          <p:nvPr/>
        </p:nvSpPr>
        <p:spPr>
          <a:xfrm>
            <a:off x="1657807" y="3649370"/>
            <a:ext cx="4177894" cy="128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BI dashboard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68096" y="3854196"/>
            <a:ext cx="761695" cy="1777594"/>
          </a:xfrm>
          <a:prstGeom prst="rect">
            <a:avLst/>
          </a:prstGeom>
          <a:solidFill>
            <a:srgbClr val="EFEBDF"/>
          </a:solidFill>
          <a:ln/>
        </p:spPr>
      </p:sp>
      <p:sp>
        <p:nvSpPr>
          <p:cNvPr id="24" name="Shape 22"/>
          <p:cNvSpPr/>
          <p:nvPr/>
        </p:nvSpPr>
        <p:spPr>
          <a:xfrm>
            <a:off x="901598" y="4051706"/>
            <a:ext cx="508406" cy="63094"/>
          </a:xfrm>
          <a:prstGeom prst="roundRect">
            <a:avLst>
              <a:gd name="adj" fmla="val 50724"/>
            </a:avLst>
          </a:prstGeom>
          <a:solidFill>
            <a:srgbClr val="43695E"/>
          </a:solidFill>
          <a:ln/>
        </p:spPr>
      </p:sp>
      <p:sp>
        <p:nvSpPr>
          <p:cNvPr id="25" name="Shape 23"/>
          <p:cNvSpPr/>
          <p:nvPr/>
        </p:nvSpPr>
        <p:spPr>
          <a:xfrm>
            <a:off x="901598" y="4317797"/>
            <a:ext cx="508406" cy="63094"/>
          </a:xfrm>
          <a:prstGeom prst="roundRect">
            <a:avLst>
              <a:gd name="adj" fmla="val 50724"/>
            </a:avLst>
          </a:prstGeom>
          <a:solidFill>
            <a:srgbClr val="DAD4C4"/>
          </a:solidFill>
          <a:ln/>
        </p:spPr>
      </p:sp>
      <p:sp>
        <p:nvSpPr>
          <p:cNvPr id="26" name="Shape 24"/>
          <p:cNvSpPr/>
          <p:nvPr/>
        </p:nvSpPr>
        <p:spPr>
          <a:xfrm>
            <a:off x="901598" y="4584802"/>
            <a:ext cx="508406" cy="63094"/>
          </a:xfrm>
          <a:prstGeom prst="roundRect">
            <a:avLst>
              <a:gd name="adj" fmla="val 50724"/>
            </a:avLst>
          </a:prstGeom>
          <a:solidFill>
            <a:srgbClr val="DAD4C4"/>
          </a:solidFill>
          <a:ln/>
        </p:spPr>
      </p:sp>
      <p:sp>
        <p:nvSpPr>
          <p:cNvPr id="27" name="Shape 25"/>
          <p:cNvSpPr/>
          <p:nvPr/>
        </p:nvSpPr>
        <p:spPr>
          <a:xfrm>
            <a:off x="1688897" y="4393692"/>
            <a:ext cx="395021" cy="330098"/>
          </a:xfrm>
          <a:prstGeom prst="roundRect">
            <a:avLst>
              <a:gd name="adj" fmla="val 5817"/>
            </a:avLst>
          </a:prstGeom>
          <a:solidFill>
            <a:srgbClr val="43695E">
              <a:alpha val="73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147926" y="4229100"/>
            <a:ext cx="395021" cy="494690"/>
          </a:xfrm>
          <a:prstGeom prst="roundRect">
            <a:avLst>
              <a:gd name="adj" fmla="val 4861"/>
            </a:avLst>
          </a:prstGeom>
          <a:solidFill>
            <a:srgbClr val="43695E">
              <a:alpha val="86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606954" y="4311396"/>
            <a:ext cx="395021" cy="412394"/>
          </a:xfrm>
          <a:prstGeom prst="roundRect">
            <a:avLst>
              <a:gd name="adj" fmla="val 4861"/>
            </a:avLst>
          </a:prstGeom>
          <a:solidFill>
            <a:srgbClr val="43695E">
              <a:alpha val="79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065069" y="4146804"/>
            <a:ext cx="395021" cy="576986"/>
          </a:xfrm>
          <a:prstGeom prst="roundRect">
            <a:avLst>
              <a:gd name="adj" fmla="val 4861"/>
            </a:avLst>
          </a:prstGeom>
          <a:solidFill>
            <a:srgbClr val="43695E">
              <a:alpha val="93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524098" y="4229100"/>
            <a:ext cx="395021" cy="494690"/>
          </a:xfrm>
          <a:prstGeom prst="roundRect">
            <a:avLst>
              <a:gd name="adj" fmla="val 4861"/>
            </a:avLst>
          </a:prstGeom>
          <a:solidFill>
            <a:srgbClr val="43695E">
              <a:alpha val="86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983126" y="4063594"/>
            <a:ext cx="395021" cy="659282"/>
          </a:xfrm>
          <a:prstGeom prst="roundRect">
            <a:avLst>
              <a:gd name="adj" fmla="val 4861"/>
            </a:avLst>
          </a:prstGeom>
          <a:solidFill>
            <a:srgbClr val="43695E"/>
          </a:solidFill>
          <a:ln/>
        </p:spPr>
      </p:sp>
      <p:sp>
        <p:nvSpPr>
          <p:cNvPr id="33" name="Shape 31"/>
          <p:cNvSpPr/>
          <p:nvPr/>
        </p:nvSpPr>
        <p:spPr>
          <a:xfrm>
            <a:off x="5283403" y="4072738"/>
            <a:ext cx="634594" cy="634594"/>
          </a:xfrm>
          <a:prstGeom prst="ellipse">
            <a:avLst/>
          </a:prstGeom>
          <a:ln w="95250">
            <a:solidFill>
              <a:srgbClr val="E6E1D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83403" y="4072738"/>
            <a:ext cx="634594" cy="634594"/>
          </a:xfrm>
          <a:prstGeom prst="arc">
            <a:avLst>
              <a:gd name="adj1" fmla="val -5400000"/>
              <a:gd name="adj2" fmla="val 6480000"/>
            </a:avLst>
          </a:prstGeom>
          <a:ln w="95250">
            <a:solidFill>
              <a:srgbClr val="B15A3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688897" y="4870094"/>
            <a:ext cx="4889297" cy="539496"/>
          </a:xfrm>
          <a:prstGeom prst="roundRect">
            <a:avLst>
              <a:gd name="adj" fmla="val 11695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28800" y="5047488"/>
            <a:ext cx="4610405" cy="0"/>
          </a:xfrm>
          <a:prstGeom prst="line">
            <a:avLst/>
          </a:prstGeom>
          <a:noFill/>
          <a:ln w="12700">
            <a:solidFill>
              <a:srgbClr val="E6E1D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28800" y="5212994"/>
            <a:ext cx="4610405" cy="0"/>
          </a:xfrm>
          <a:prstGeom prst="line">
            <a:avLst/>
          </a:prstGeom>
          <a:noFill/>
          <a:ln w="12700">
            <a:solidFill>
              <a:srgbClr val="E6E1D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828800" y="5377586"/>
            <a:ext cx="4610405" cy="0"/>
          </a:xfrm>
          <a:prstGeom prst="line">
            <a:avLst/>
          </a:prstGeom>
          <a:noFill/>
          <a:ln w="12700">
            <a:solidFill>
              <a:srgbClr val="E6E1D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12203" y="3771900"/>
            <a:ext cx="4317797" cy="952805"/>
          </a:xfrm>
          <a:prstGeom prst="roundRect">
            <a:avLst>
              <a:gd name="adj" fmla="val 11996"/>
            </a:avLst>
          </a:prstGeom>
          <a:solidFill>
            <a:srgbClr val="EFEBDF"/>
          </a:solidFill>
          <a:ln w="25400">
            <a:solidFill>
              <a:srgbClr val="4369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28002" y="3933749"/>
            <a:ext cx="3746297" cy="1707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Segoe UI Semilight" pitchFamily="34" charset="0"/>
                <a:ea typeface="Segoe UI Semilight" pitchFamily="34" charset="-122"/>
                <a:cs typeface="Segoe UI Semilight" pitchFamily="34" charset="-120"/>
              </a:rPr>
              <a:t>Each client sees only their own analytical data.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112203" y="4852721"/>
            <a:ext cx="4317797" cy="118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8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Metabase CE has no row-level security — isolation is baked into each copied dashboard at provisioning time.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761695" y="6424574"/>
            <a:ext cx="10668305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kern="0" spc="70" dirty="0">
                <a:solidFill>
                  <a:srgbClr val="8A86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CarthaPOS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61695" y="6424574"/>
            <a:ext cx="10668305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70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/ 20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848563"/>
            <a:ext cx="1066830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kern="0" spc="170" dirty="0">
                <a:solidFill>
                  <a:srgbClr val="B15A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15 · DEVOPS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61695" y="1070762"/>
            <a:ext cx="10668305" cy="5660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3300" dirty="0">
                <a:solidFill>
                  <a:srgbClr val="1D1D1F"/>
                </a:solidFill>
                <a:latin typeface="Segoe UI Semilight" pitchFamily="34" charset="0"/>
                <a:ea typeface="Segoe UI Semilight" pitchFamily="34" charset="-122"/>
                <a:cs typeface="Segoe UI Semilight" pitchFamily="34" charset="-120"/>
              </a:rPr>
              <a:t>Build &amp; Deployment Pipeline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61695" y="1815998"/>
            <a:ext cx="10668305" cy="0"/>
          </a:xfrm>
          <a:prstGeom prst="line">
            <a:avLst/>
          </a:prstGeom>
          <a:noFill/>
          <a:ln w="12700">
            <a:solidFill>
              <a:srgbClr val="DA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1695" y="1946758"/>
            <a:ext cx="10668305" cy="1975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source control to production, with automated Windows builds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61695" y="2565806"/>
            <a:ext cx="1545336" cy="952805"/>
          </a:xfrm>
          <a:prstGeom prst="roundRect">
            <a:avLst>
              <a:gd name="adj" fmla="val 10653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40003" y="2844698"/>
            <a:ext cx="114300" cy="0"/>
          </a:xfrm>
          <a:prstGeom prst="line">
            <a:avLst/>
          </a:prstGeom>
          <a:noFill/>
          <a:ln w="30480">
            <a:solidFill>
              <a:srgbClr val="4A6B8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5898" y="2806294"/>
            <a:ext cx="38405" cy="38405"/>
          </a:xfrm>
          <a:prstGeom prst="line">
            <a:avLst/>
          </a:prstGeom>
          <a:noFill/>
          <a:ln w="30480">
            <a:solidFill>
              <a:srgbClr val="4A6B8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015898" y="2844698"/>
            <a:ext cx="38405" cy="38405"/>
          </a:xfrm>
          <a:prstGeom prst="line">
            <a:avLst/>
          </a:prstGeom>
          <a:noFill/>
          <a:ln w="30480">
            <a:solidFill>
              <a:srgbClr val="4A6B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7202" y="3210458"/>
            <a:ext cx="1291133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GitHub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97557" y="2979115"/>
            <a:ext cx="105156" cy="126187"/>
          </a:xfrm>
          <a:prstGeom prst="chevron">
            <a:avLst/>
          </a:prstGeom>
          <a:solidFill>
            <a:srgbClr val="4A6B86"/>
          </a:solidFill>
          <a:ln/>
        </p:spPr>
      </p:sp>
      <p:sp>
        <p:nvSpPr>
          <p:cNvPr id="12" name="Shape 10"/>
          <p:cNvSpPr/>
          <p:nvPr/>
        </p:nvSpPr>
        <p:spPr>
          <a:xfrm>
            <a:off x="2586838" y="2565806"/>
            <a:ext cx="1545336" cy="952805"/>
          </a:xfrm>
          <a:prstGeom prst="roundRect">
            <a:avLst>
              <a:gd name="adj" fmla="val 10653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57830" y="2762402"/>
            <a:ext cx="165506" cy="165506"/>
          </a:xfrm>
          <a:prstGeom prst="gear6">
            <a:avLst/>
          </a:prstGeom>
          <a:ln w="25400">
            <a:solidFill>
              <a:srgbClr val="4A6B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51430" y="3210458"/>
            <a:ext cx="1291133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Build automation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22699" y="2979115"/>
            <a:ext cx="105156" cy="126187"/>
          </a:xfrm>
          <a:prstGeom prst="chevron">
            <a:avLst/>
          </a:prstGeom>
          <a:solidFill>
            <a:srgbClr val="4A6B86"/>
          </a:solidFill>
          <a:ln/>
        </p:spPr>
      </p:sp>
      <p:sp>
        <p:nvSpPr>
          <p:cNvPr id="16" name="Shape 14"/>
          <p:cNvSpPr/>
          <p:nvPr/>
        </p:nvSpPr>
        <p:spPr>
          <a:xfrm>
            <a:off x="4411066" y="2565806"/>
            <a:ext cx="1545336" cy="952805"/>
          </a:xfrm>
          <a:prstGeom prst="roundRect">
            <a:avLst>
              <a:gd name="adj" fmla="val 10653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01261" y="2775204"/>
            <a:ext cx="127102" cy="139903"/>
          </a:xfrm>
          <a:prstGeom prst="can">
            <a:avLst/>
          </a:prstGeom>
          <a:ln w="27940">
            <a:solidFill>
              <a:srgbClr val="4A6B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6572" y="3210458"/>
            <a:ext cx="1291133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Docker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46927" y="2979115"/>
            <a:ext cx="105156" cy="126187"/>
          </a:xfrm>
          <a:prstGeom prst="chevron">
            <a:avLst/>
          </a:prstGeom>
          <a:solidFill>
            <a:srgbClr val="4A6B86"/>
          </a:solidFill>
          <a:ln/>
        </p:spPr>
      </p:sp>
      <p:sp>
        <p:nvSpPr>
          <p:cNvPr id="20" name="Shape 18"/>
          <p:cNvSpPr/>
          <p:nvPr/>
        </p:nvSpPr>
        <p:spPr>
          <a:xfrm>
            <a:off x="6235294" y="2565806"/>
            <a:ext cx="1545336" cy="952805"/>
          </a:xfrm>
          <a:prstGeom prst="roundRect">
            <a:avLst>
              <a:gd name="adj" fmla="val 10653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26403" y="2768803"/>
            <a:ext cx="127102" cy="152705"/>
          </a:xfrm>
          <a:prstGeom prst="roundRect">
            <a:avLst>
              <a:gd name="adj" fmla="val 10072"/>
            </a:avLst>
          </a:prstGeom>
          <a:ln w="27940">
            <a:solidFill>
              <a:srgbClr val="4A6B8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08699" y="2768803"/>
            <a:ext cx="0" cy="44806"/>
          </a:xfrm>
          <a:prstGeom prst="line">
            <a:avLst/>
          </a:prstGeom>
          <a:noFill/>
          <a:ln w="30480">
            <a:solidFill>
              <a:srgbClr val="4A6B8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08699" y="2812694"/>
            <a:ext cx="44806" cy="0"/>
          </a:xfrm>
          <a:prstGeom prst="line">
            <a:avLst/>
          </a:prstGeom>
          <a:noFill/>
          <a:ln w="30480">
            <a:solidFill>
              <a:srgbClr val="4A6B8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58407" y="2838298"/>
            <a:ext cx="63094" cy="0"/>
          </a:xfrm>
          <a:prstGeom prst="line">
            <a:avLst/>
          </a:prstGeom>
          <a:noFill/>
          <a:ln w="22860">
            <a:solidFill>
              <a:srgbClr val="4A6B8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58407" y="2876702"/>
            <a:ext cx="63094" cy="0"/>
          </a:xfrm>
          <a:prstGeom prst="line">
            <a:avLst/>
          </a:prstGeom>
          <a:noFill/>
          <a:ln w="22860">
            <a:solidFill>
              <a:srgbClr val="4A6B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210458"/>
            <a:ext cx="1291133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GitHub Actions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872070" y="2979115"/>
            <a:ext cx="105156" cy="126187"/>
          </a:xfrm>
          <a:prstGeom prst="chevron">
            <a:avLst/>
          </a:prstGeom>
          <a:solidFill>
            <a:srgbClr val="4A6B86"/>
          </a:solidFill>
          <a:ln/>
        </p:spPr>
      </p:sp>
      <p:sp>
        <p:nvSpPr>
          <p:cNvPr id="28" name="Shape 26"/>
          <p:cNvSpPr/>
          <p:nvPr/>
        </p:nvSpPr>
        <p:spPr>
          <a:xfrm>
            <a:off x="8060436" y="2565806"/>
            <a:ext cx="1545336" cy="952805"/>
          </a:xfrm>
          <a:prstGeom prst="roundRect">
            <a:avLst>
              <a:gd name="adj" fmla="val 10653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 flipV="1">
            <a:off x="8314639" y="2781605"/>
            <a:ext cx="0" cy="133502"/>
          </a:xfrm>
          <a:prstGeom prst="line">
            <a:avLst/>
          </a:prstGeom>
          <a:noFill/>
          <a:ln w="30480">
            <a:solidFill>
              <a:srgbClr val="4A6B8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8263433" y="2781605"/>
            <a:ext cx="51206" cy="51206"/>
          </a:xfrm>
          <a:prstGeom prst="line">
            <a:avLst/>
          </a:prstGeom>
          <a:noFill/>
          <a:ln w="30480">
            <a:solidFill>
              <a:srgbClr val="4A6B8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H="1" flipV="1">
            <a:off x="8314639" y="2781605"/>
            <a:ext cx="51206" cy="51206"/>
          </a:xfrm>
          <a:prstGeom prst="line">
            <a:avLst/>
          </a:prstGeom>
          <a:noFill/>
          <a:ln w="30480">
            <a:solidFill>
              <a:srgbClr val="4A6B8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44230" y="2915107"/>
            <a:ext cx="139903" cy="0"/>
          </a:xfrm>
          <a:prstGeom prst="line">
            <a:avLst/>
          </a:prstGeom>
          <a:noFill/>
          <a:ln w="27940">
            <a:solidFill>
              <a:srgbClr val="4A6B8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5028" y="3210458"/>
            <a:ext cx="1291133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Render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696298" y="2979115"/>
            <a:ext cx="105156" cy="126187"/>
          </a:xfrm>
          <a:prstGeom prst="chevron">
            <a:avLst/>
          </a:prstGeom>
          <a:solidFill>
            <a:srgbClr val="4A6B86"/>
          </a:solidFill>
          <a:ln/>
        </p:spPr>
      </p:sp>
      <p:sp>
        <p:nvSpPr>
          <p:cNvPr id="35" name="Shape 33"/>
          <p:cNvSpPr/>
          <p:nvPr/>
        </p:nvSpPr>
        <p:spPr>
          <a:xfrm>
            <a:off x="9884664" y="2565806"/>
            <a:ext cx="1545336" cy="952805"/>
          </a:xfrm>
          <a:prstGeom prst="roundRect">
            <a:avLst>
              <a:gd name="adj" fmla="val 10653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 flipV="1">
            <a:off x="10138867" y="2781605"/>
            <a:ext cx="0" cy="133502"/>
          </a:xfrm>
          <a:prstGeom prst="line">
            <a:avLst/>
          </a:prstGeom>
          <a:noFill/>
          <a:ln w="30480">
            <a:solidFill>
              <a:srgbClr val="4A6B8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10087661" y="2781605"/>
            <a:ext cx="51206" cy="51206"/>
          </a:xfrm>
          <a:prstGeom prst="line">
            <a:avLst/>
          </a:prstGeom>
          <a:noFill/>
          <a:ln w="30480">
            <a:solidFill>
              <a:srgbClr val="4A6B8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 flipV="1">
            <a:off x="10138867" y="2781605"/>
            <a:ext cx="51206" cy="51206"/>
          </a:xfrm>
          <a:prstGeom prst="line">
            <a:avLst/>
          </a:prstGeom>
          <a:noFill/>
          <a:ln w="30480">
            <a:solidFill>
              <a:srgbClr val="4A6B8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69373" y="2915107"/>
            <a:ext cx="139903" cy="0"/>
          </a:xfrm>
          <a:prstGeom prst="line">
            <a:avLst/>
          </a:prstGeom>
          <a:noFill/>
          <a:ln w="27940">
            <a:solidFill>
              <a:srgbClr val="4A6B8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50170" y="3210458"/>
            <a:ext cx="1291133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Production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61695" y="3948379"/>
            <a:ext cx="10668305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kern="0" spc="140" dirty="0">
                <a:solidFill>
                  <a:srgbClr val="8A86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 PRACTICES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761695" y="4190695"/>
            <a:ext cx="2187245" cy="291694"/>
          </a:xfrm>
          <a:prstGeom prst="roundRect">
            <a:avLst>
              <a:gd name="adj" fmla="val 50157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1695" y="4225442"/>
            <a:ext cx="2187245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POS installer builds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076042" y="4190695"/>
            <a:ext cx="1739189" cy="291694"/>
          </a:xfrm>
          <a:prstGeom prst="roundRect">
            <a:avLst>
              <a:gd name="adj" fmla="val 50157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76042" y="4225442"/>
            <a:ext cx="1739189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containerization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941418" y="4190695"/>
            <a:ext cx="1547165" cy="291694"/>
          </a:xfrm>
          <a:prstGeom prst="roundRect">
            <a:avLst>
              <a:gd name="adj" fmla="val 50157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1418" y="4225442"/>
            <a:ext cx="1547165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(managed)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615684" y="4190695"/>
            <a:ext cx="1739189" cy="291694"/>
          </a:xfrm>
          <a:prstGeom prst="roundRect">
            <a:avLst>
              <a:gd name="adj" fmla="val 50157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15684" y="4225442"/>
            <a:ext cx="1739189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admin &amp; frontend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481974" y="4190695"/>
            <a:ext cx="1611173" cy="291694"/>
          </a:xfrm>
          <a:prstGeom prst="roundRect">
            <a:avLst>
              <a:gd name="adj" fmla="val 50157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81974" y="4225442"/>
            <a:ext cx="1611173" cy="1545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 via render.yaml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61695" y="4749394"/>
            <a:ext cx="10668305" cy="977494"/>
          </a:xfrm>
          <a:prstGeom prst="roundRect">
            <a:avLst>
              <a:gd name="adj" fmla="val 10384"/>
            </a:avLst>
          </a:prstGeom>
          <a:solidFill>
            <a:srgbClr val="EFEBDF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90295" y="4932274"/>
            <a:ext cx="10439705" cy="1115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kern="0" spc="120" dirty="0">
                <a:solidFill>
                  <a:srgbClr val="8A86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DEPLOYMENT TOPOLOGY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972007" y="5212994"/>
            <a:ext cx="38405" cy="38405"/>
          </a:xfrm>
          <a:prstGeom prst="ellipse">
            <a:avLst/>
          </a:prstGeom>
          <a:solidFill>
            <a:srgbClr val="4A6B86"/>
          </a:solidFill>
          <a:ln/>
        </p:spPr>
      </p:sp>
      <p:sp>
        <p:nvSpPr>
          <p:cNvPr id="55" name="Text 53"/>
          <p:cNvSpPr/>
          <p:nvPr/>
        </p:nvSpPr>
        <p:spPr>
          <a:xfrm>
            <a:off x="1104595" y="5170018"/>
            <a:ext cx="10325405" cy="132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8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carthapos-backend</a:t>
            </a:r>
            <a:endParaRPr lang="en-US" sz="780" dirty="0"/>
          </a:p>
        </p:txBody>
      </p:sp>
      <p:sp>
        <p:nvSpPr>
          <p:cNvPr id="56" name="Text 54"/>
          <p:cNvSpPr/>
          <p:nvPr/>
        </p:nvSpPr>
        <p:spPr>
          <a:xfrm>
            <a:off x="2806294" y="5170018"/>
            <a:ext cx="8623706" cy="132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8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Docker web service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6241694" y="5212994"/>
            <a:ext cx="38405" cy="38405"/>
          </a:xfrm>
          <a:prstGeom prst="ellipse">
            <a:avLst/>
          </a:prstGeom>
          <a:solidFill>
            <a:srgbClr val="4A6B86"/>
          </a:solidFill>
          <a:ln/>
        </p:spPr>
      </p:sp>
      <p:sp>
        <p:nvSpPr>
          <p:cNvPr id="58" name="Text 56"/>
          <p:cNvSpPr/>
          <p:nvPr/>
        </p:nvSpPr>
        <p:spPr>
          <a:xfrm>
            <a:off x="6375197" y="5170018"/>
            <a:ext cx="5054803" cy="132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8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+ frontend</a:t>
            </a:r>
            <a:endParaRPr lang="en-US" sz="780" dirty="0"/>
          </a:p>
        </p:txBody>
      </p:sp>
      <p:sp>
        <p:nvSpPr>
          <p:cNvPr id="59" name="Text 57"/>
          <p:cNvSpPr/>
          <p:nvPr/>
        </p:nvSpPr>
        <p:spPr>
          <a:xfrm>
            <a:off x="8076895" y="5170018"/>
            <a:ext cx="3353105" cy="132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8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static sites</a:t>
            </a:r>
            <a:endParaRPr lang="en-US" sz="780" dirty="0"/>
          </a:p>
        </p:txBody>
      </p:sp>
      <p:sp>
        <p:nvSpPr>
          <p:cNvPr id="60" name="Shape 58"/>
          <p:cNvSpPr/>
          <p:nvPr/>
        </p:nvSpPr>
        <p:spPr>
          <a:xfrm>
            <a:off x="972007" y="5467198"/>
            <a:ext cx="38405" cy="38405"/>
          </a:xfrm>
          <a:prstGeom prst="ellipse">
            <a:avLst/>
          </a:prstGeom>
          <a:solidFill>
            <a:srgbClr val="4A6B86"/>
          </a:solidFill>
          <a:ln/>
        </p:spPr>
      </p:sp>
      <p:sp>
        <p:nvSpPr>
          <p:cNvPr id="61" name="Text 59"/>
          <p:cNvSpPr/>
          <p:nvPr/>
        </p:nvSpPr>
        <p:spPr>
          <a:xfrm>
            <a:off x="1104595" y="5424221"/>
            <a:ext cx="10325405" cy="132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8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carthapos-db</a:t>
            </a:r>
            <a:endParaRPr lang="en-US" sz="780" dirty="0"/>
          </a:p>
        </p:txBody>
      </p:sp>
      <p:sp>
        <p:nvSpPr>
          <p:cNvPr id="62" name="Text 60"/>
          <p:cNvSpPr/>
          <p:nvPr/>
        </p:nvSpPr>
        <p:spPr>
          <a:xfrm>
            <a:off x="2806294" y="5424221"/>
            <a:ext cx="8623706" cy="132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8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managed PostgreSQL</a:t>
            </a:r>
            <a:endParaRPr lang="en-US" sz="780" dirty="0"/>
          </a:p>
        </p:txBody>
      </p:sp>
      <p:sp>
        <p:nvSpPr>
          <p:cNvPr id="63" name="Shape 61"/>
          <p:cNvSpPr/>
          <p:nvPr/>
        </p:nvSpPr>
        <p:spPr>
          <a:xfrm>
            <a:off x="6241694" y="5467198"/>
            <a:ext cx="38405" cy="38405"/>
          </a:xfrm>
          <a:prstGeom prst="ellipse">
            <a:avLst/>
          </a:prstGeom>
          <a:solidFill>
            <a:srgbClr val="4A6B86"/>
          </a:solidFill>
          <a:ln/>
        </p:spPr>
      </p:sp>
      <p:sp>
        <p:nvSpPr>
          <p:cNvPr id="64" name="Text 62"/>
          <p:cNvSpPr/>
          <p:nvPr/>
        </p:nvSpPr>
        <p:spPr>
          <a:xfrm>
            <a:off x="6375197" y="5424221"/>
            <a:ext cx="5054803" cy="132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8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installer</a:t>
            </a:r>
            <a:endParaRPr lang="en-US" sz="780" dirty="0"/>
          </a:p>
        </p:txBody>
      </p:sp>
      <p:sp>
        <p:nvSpPr>
          <p:cNvPr id="65" name="Text 63"/>
          <p:cNvSpPr/>
          <p:nvPr/>
        </p:nvSpPr>
        <p:spPr>
          <a:xfrm>
            <a:off x="8076895" y="5424221"/>
            <a:ext cx="3353105" cy="132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8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GitHub Actions runner</a:t>
            </a:r>
            <a:endParaRPr lang="en-US" sz="780" dirty="0"/>
          </a:p>
        </p:txBody>
      </p:sp>
      <p:sp>
        <p:nvSpPr>
          <p:cNvPr id="66" name="Text 64"/>
          <p:cNvSpPr/>
          <p:nvPr/>
        </p:nvSpPr>
        <p:spPr>
          <a:xfrm>
            <a:off x="761695" y="6424574"/>
            <a:ext cx="10668305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kern="0" spc="70" dirty="0">
                <a:solidFill>
                  <a:srgbClr val="8A86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CarthaPOS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761695" y="6424574"/>
            <a:ext cx="10668305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70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/ 20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848563"/>
            <a:ext cx="1066830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kern="0" spc="170" dirty="0">
                <a:solidFill>
                  <a:srgbClr val="B15A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16 · RESULTS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61695" y="1070762"/>
            <a:ext cx="10668305" cy="5660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3300" dirty="0">
                <a:solidFill>
                  <a:srgbClr val="1D1D1F"/>
                </a:solidFill>
                <a:latin typeface="Segoe UI Semilight" pitchFamily="34" charset="0"/>
                <a:ea typeface="Segoe UI Semilight" pitchFamily="34" charset="-122"/>
                <a:cs typeface="Segoe UI Semilight" pitchFamily="34" charset="-120"/>
              </a:rPr>
              <a:t>Results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61695" y="1815998"/>
            <a:ext cx="10668305" cy="0"/>
          </a:xfrm>
          <a:prstGeom prst="line">
            <a:avLst/>
          </a:prstGeom>
          <a:noFill/>
          <a:ln w="12700">
            <a:solidFill>
              <a:srgbClr val="DA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1695" y="1946758"/>
            <a:ext cx="10668305" cy="1975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platform delivers today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61695" y="2514600"/>
            <a:ext cx="3226003" cy="1244498"/>
          </a:xfrm>
          <a:prstGeom prst="roundRect">
            <a:avLst>
              <a:gd name="adj" fmla="val 9184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12902" y="2817266"/>
            <a:ext cx="3124505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3000" dirty="0">
                <a:solidFill>
                  <a:srgbClr val="B15A3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12902" y="3389681"/>
            <a:ext cx="3124505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3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sectors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4483303" y="2514600"/>
            <a:ext cx="3226003" cy="1244498"/>
          </a:xfrm>
          <a:prstGeom prst="roundRect">
            <a:avLst>
              <a:gd name="adj" fmla="val 9184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33595" y="2817266"/>
            <a:ext cx="3124505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3000" dirty="0">
                <a:solidFill>
                  <a:srgbClr val="43695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33595" y="3389681"/>
            <a:ext cx="3124505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3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 datasets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8203997" y="2514600"/>
            <a:ext cx="3226003" cy="1244498"/>
          </a:xfrm>
          <a:prstGeom prst="roundRect">
            <a:avLst>
              <a:gd name="adj" fmla="val 9184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55203" y="2817266"/>
            <a:ext cx="3124505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3000" dirty="0">
                <a:solidFill>
                  <a:srgbClr val="43695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246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55203" y="3389681"/>
            <a:ext cx="3124505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3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 columns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761695" y="4013302"/>
            <a:ext cx="3226003" cy="1244498"/>
          </a:xfrm>
          <a:prstGeom prst="roundRect">
            <a:avLst>
              <a:gd name="adj" fmla="val 9184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12902" y="4315968"/>
            <a:ext cx="3124505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3000" dirty="0">
                <a:solidFill>
                  <a:srgbClr val="4A6B86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35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12902" y="4888382"/>
            <a:ext cx="3124505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3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RBAC permissions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4483303" y="4013302"/>
            <a:ext cx="3226003" cy="1244498"/>
          </a:xfrm>
          <a:prstGeom prst="roundRect">
            <a:avLst>
              <a:gd name="adj" fmla="val 9184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33595" y="4315968"/>
            <a:ext cx="3124505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3000" dirty="0">
                <a:solidFill>
                  <a:srgbClr val="43695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6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533595" y="4888382"/>
            <a:ext cx="3124505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3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warehouse facts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8203997" y="4013302"/>
            <a:ext cx="3226003" cy="1244498"/>
          </a:xfrm>
          <a:prstGeom prst="roundRect">
            <a:avLst>
              <a:gd name="adj" fmla="val 9184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  <a:effectLst>
            <a:outerShdw blurRad="1143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55203" y="4315968"/>
            <a:ext cx="3124505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3000" dirty="0">
                <a:solidFill>
                  <a:srgbClr val="43695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255203" y="4888382"/>
            <a:ext cx="3124505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3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warehouse dimensions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761695" y="5473598"/>
            <a:ext cx="10668305" cy="470002"/>
          </a:xfrm>
          <a:prstGeom prst="roundRect">
            <a:avLst>
              <a:gd name="adj" fmla="val 50000"/>
            </a:avLst>
          </a:prstGeom>
          <a:solidFill>
            <a:srgbClr val="EFEBDF"/>
          </a:solidFill>
          <a:ln w="25400">
            <a:solidFill>
              <a:srgbClr val="B15A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1695" y="5591556"/>
            <a:ext cx="10668305" cy="1801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Fully automated Windows POS generation, end to end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61695" y="6424574"/>
            <a:ext cx="10668305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kern="0" spc="70" dirty="0">
                <a:solidFill>
                  <a:srgbClr val="8A86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CarthaPOS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61695" y="6424574"/>
            <a:ext cx="10668305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70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/ 20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848563"/>
            <a:ext cx="1066830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kern="0" spc="170" dirty="0">
                <a:solidFill>
                  <a:srgbClr val="B15A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17 · OUTLOOK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61695" y="1070762"/>
            <a:ext cx="10668305" cy="5660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3300" dirty="0">
                <a:solidFill>
                  <a:srgbClr val="1D1D1F"/>
                </a:solidFill>
                <a:latin typeface="Segoe UI Semilight" pitchFamily="34" charset="0"/>
                <a:ea typeface="Segoe UI Semilight" pitchFamily="34" charset="-122"/>
                <a:cs typeface="Segoe UI Semilight" pitchFamily="34" charset="-120"/>
              </a:rPr>
              <a:t>Limitations &amp; Future Perspectives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61695" y="1815998"/>
            <a:ext cx="10668305" cy="0"/>
          </a:xfrm>
          <a:prstGeom prst="line">
            <a:avLst/>
          </a:prstGeom>
          <a:noFill/>
          <a:ln w="12700">
            <a:solidFill>
              <a:srgbClr val="DAD4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26203" y="2514600"/>
            <a:ext cx="0" cy="3301898"/>
          </a:xfrm>
          <a:prstGeom prst="line">
            <a:avLst/>
          </a:prstGeom>
          <a:noFill/>
          <a:ln w="12700">
            <a:solidFill>
              <a:srgbClr val="E6E1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1695" y="2620670"/>
            <a:ext cx="10668305" cy="128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kern="0" spc="140" dirty="0">
                <a:solidFill>
                  <a:srgbClr val="8A86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LIMITATIONS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64438" y="3119933"/>
            <a:ext cx="45720" cy="45720"/>
          </a:xfrm>
          <a:prstGeom prst="ellipse">
            <a:avLst/>
          </a:prstGeom>
          <a:solidFill>
            <a:srgbClr val="8A867C"/>
          </a:solidFill>
          <a:ln/>
        </p:spPr>
      </p:sp>
      <p:sp>
        <p:nvSpPr>
          <p:cNvPr id="8" name="Text 6"/>
          <p:cNvSpPr/>
          <p:nvPr/>
        </p:nvSpPr>
        <p:spPr>
          <a:xfrm>
            <a:off x="940003" y="3051353"/>
            <a:ext cx="34290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0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Metabase &amp; single-region deployment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64438" y="3793846"/>
            <a:ext cx="45720" cy="45720"/>
          </a:xfrm>
          <a:prstGeom prst="ellipse">
            <a:avLst/>
          </a:prstGeom>
          <a:solidFill>
            <a:srgbClr val="8A867C"/>
          </a:solidFill>
          <a:ln/>
        </p:spPr>
      </p:sp>
      <p:sp>
        <p:nvSpPr>
          <p:cNvPr id="10" name="Text 8"/>
          <p:cNvSpPr/>
          <p:nvPr/>
        </p:nvSpPr>
        <p:spPr>
          <a:xfrm>
            <a:off x="940003" y="3724351"/>
            <a:ext cx="34290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0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ETL runs synchronously on upload — no job queue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64438" y="4466844"/>
            <a:ext cx="45720" cy="45720"/>
          </a:xfrm>
          <a:prstGeom prst="ellipse">
            <a:avLst/>
          </a:prstGeom>
          <a:solidFill>
            <a:srgbClr val="8A867C"/>
          </a:solidFill>
          <a:ln/>
        </p:spPr>
      </p:sp>
      <p:sp>
        <p:nvSpPr>
          <p:cNvPr id="12" name="Text 10"/>
          <p:cNvSpPr/>
          <p:nvPr/>
        </p:nvSpPr>
        <p:spPr>
          <a:xfrm>
            <a:off x="940003" y="4398264"/>
            <a:ext cx="34290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0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Per-tenant Metabase sandboxing is still manual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64438" y="5139842"/>
            <a:ext cx="45720" cy="45720"/>
          </a:xfrm>
          <a:prstGeom prst="ellipse">
            <a:avLst/>
          </a:prstGeom>
          <a:solidFill>
            <a:srgbClr val="8A867C"/>
          </a:solidFill>
          <a:ln/>
        </p:spPr>
      </p:sp>
      <p:sp>
        <p:nvSpPr>
          <p:cNvPr id="14" name="Text 12"/>
          <p:cNvSpPr/>
          <p:nvPr/>
        </p:nvSpPr>
        <p:spPr>
          <a:xfrm>
            <a:off x="940003" y="5071262"/>
            <a:ext cx="34290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05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 advanced modules exist only as previews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206594" y="2620670"/>
            <a:ext cx="6223406" cy="128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kern="0" spc="140" dirty="0">
                <a:solidFill>
                  <a:srgbClr val="B15A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FUTURE VISION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206594" y="2958998"/>
            <a:ext cx="6223406" cy="838505"/>
          </a:xfrm>
          <a:prstGeom prst="roundRect">
            <a:avLst>
              <a:gd name="adj" fmla="val 12105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7703" y="3122676"/>
            <a:ext cx="6032297" cy="103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kern="0" spc="100" dirty="0">
                <a:solidFill>
                  <a:srgbClr val="8A86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PROMPT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5397703" y="3324758"/>
            <a:ext cx="419069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00" i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“Create a restaurant POS with table management, kitchen orders, loyalty and dark-blue branding.”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318297" y="3911803"/>
            <a:ext cx="0" cy="228600"/>
          </a:xfrm>
          <a:prstGeom prst="line">
            <a:avLst/>
          </a:prstGeom>
          <a:noFill/>
          <a:ln w="35560">
            <a:solidFill>
              <a:srgbClr val="B15A38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8458200" y="3973068"/>
            <a:ext cx="2971800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dirty="0">
                <a:solidFill>
                  <a:srgbClr val="B15A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 generation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206594" y="4216298"/>
            <a:ext cx="6223406" cy="444398"/>
          </a:xfrm>
          <a:prstGeom prst="roundRect">
            <a:avLst>
              <a:gd name="adj" fmla="val 19959"/>
            </a:avLst>
          </a:prstGeom>
          <a:solidFill>
            <a:srgbClr val="EFEBDF"/>
          </a:solidFill>
          <a:ln w="25400">
            <a:solidFill>
              <a:srgbClr val="B15A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06594" y="4334256"/>
            <a:ext cx="622340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Customized POS, generated from language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206594" y="4888382"/>
            <a:ext cx="6223406" cy="103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kern="0" spc="110" dirty="0">
                <a:solidFill>
                  <a:srgbClr val="8A86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ALSO ON THE ROADMAP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5206594" y="5117897"/>
            <a:ext cx="721462" cy="291694"/>
          </a:xfrm>
          <a:prstGeom prst="roundRect">
            <a:avLst>
              <a:gd name="adj" fmla="val 50157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06594" y="5164531"/>
            <a:ext cx="72146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ERP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017666" y="5117897"/>
            <a:ext cx="1291133" cy="291694"/>
          </a:xfrm>
          <a:prstGeom prst="roundRect">
            <a:avLst>
              <a:gd name="adj" fmla="val 50157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17666" y="5164531"/>
            <a:ext cx="1291133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AI-assisted config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397496" y="5117897"/>
            <a:ext cx="1518818" cy="291694"/>
          </a:xfrm>
          <a:prstGeom prst="roundRect">
            <a:avLst>
              <a:gd name="adj" fmla="val 50157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97496" y="5164531"/>
            <a:ext cx="151881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POS hardware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005011" y="5117897"/>
            <a:ext cx="1233526" cy="291694"/>
          </a:xfrm>
          <a:prstGeom prst="roundRect">
            <a:avLst>
              <a:gd name="adj" fmla="val 50157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05011" y="5164531"/>
            <a:ext cx="123352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Smarter analytics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206594" y="5486400"/>
            <a:ext cx="835762" cy="291694"/>
          </a:xfrm>
          <a:prstGeom prst="roundRect">
            <a:avLst>
              <a:gd name="adj" fmla="val 50157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06594" y="5533034"/>
            <a:ext cx="83576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5B5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61695" y="6424574"/>
            <a:ext cx="10668305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kern="0" spc="70" dirty="0">
                <a:solidFill>
                  <a:srgbClr val="8A86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CarthaPOS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61695" y="6424574"/>
            <a:ext cx="10668305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70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/ 20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1229868"/>
            <a:ext cx="1066830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kern="0" spc="180" dirty="0">
                <a:solidFill>
                  <a:srgbClr val="B15A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CONCLUSION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61695" y="1763878"/>
            <a:ext cx="10668305" cy="960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5600" dirty="0">
                <a:solidFill>
                  <a:srgbClr val="1D1D1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CarthaPOS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761695" y="2844698"/>
            <a:ext cx="10668305" cy="0"/>
          </a:xfrm>
          <a:prstGeom prst="line">
            <a:avLst/>
          </a:prstGeom>
          <a:noFill/>
          <a:ln w="12700">
            <a:solidFill>
              <a:srgbClr val="DAD4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1695" y="3301898"/>
            <a:ext cx="1904695" cy="761695"/>
          </a:xfrm>
          <a:prstGeom prst="roundRect">
            <a:avLst>
              <a:gd name="adj" fmla="val 13325"/>
            </a:avLst>
          </a:prstGeom>
          <a:solidFill>
            <a:srgbClr val="EFEBDF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1695" y="3578962"/>
            <a:ext cx="1904695" cy="1883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kern="0" spc="8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GENERATE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56916" y="3614623"/>
            <a:ext cx="114300" cy="137160"/>
          </a:xfrm>
          <a:prstGeom prst="chevron">
            <a:avLst/>
          </a:prstGeom>
          <a:solidFill>
            <a:srgbClr val="B15A38"/>
          </a:solidFill>
          <a:ln/>
        </p:spPr>
      </p:sp>
      <p:sp>
        <p:nvSpPr>
          <p:cNvPr id="8" name="Shape 6"/>
          <p:cNvSpPr/>
          <p:nvPr/>
        </p:nvSpPr>
        <p:spPr>
          <a:xfrm>
            <a:off x="2952598" y="3301898"/>
            <a:ext cx="1904695" cy="761695"/>
          </a:xfrm>
          <a:prstGeom prst="roundRect">
            <a:avLst>
              <a:gd name="adj" fmla="val 13325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52598" y="3578962"/>
            <a:ext cx="1904695" cy="1883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kern="0" spc="8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CUSTOMIZE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46904" y="3614623"/>
            <a:ext cx="114300" cy="137160"/>
          </a:xfrm>
          <a:prstGeom prst="chevron">
            <a:avLst/>
          </a:prstGeom>
          <a:solidFill>
            <a:srgbClr val="B15A38"/>
          </a:solidFill>
          <a:ln/>
        </p:spPr>
      </p:sp>
      <p:sp>
        <p:nvSpPr>
          <p:cNvPr id="11" name="Shape 9"/>
          <p:cNvSpPr/>
          <p:nvPr/>
        </p:nvSpPr>
        <p:spPr>
          <a:xfrm>
            <a:off x="5143500" y="3301898"/>
            <a:ext cx="1904695" cy="761695"/>
          </a:xfrm>
          <a:prstGeom prst="roundRect">
            <a:avLst>
              <a:gd name="adj" fmla="val 13325"/>
            </a:avLst>
          </a:prstGeom>
          <a:solidFill>
            <a:srgbClr val="EFEBDF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43500" y="3578962"/>
            <a:ext cx="1904695" cy="1883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kern="0" spc="8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SECURE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7806" y="3614623"/>
            <a:ext cx="114300" cy="137160"/>
          </a:xfrm>
          <a:prstGeom prst="chevron">
            <a:avLst/>
          </a:prstGeom>
          <a:solidFill>
            <a:srgbClr val="B15A38"/>
          </a:solidFill>
          <a:ln/>
        </p:spPr>
      </p:sp>
      <p:sp>
        <p:nvSpPr>
          <p:cNvPr id="14" name="Shape 12"/>
          <p:cNvSpPr/>
          <p:nvPr/>
        </p:nvSpPr>
        <p:spPr>
          <a:xfrm>
            <a:off x="7334402" y="3301898"/>
            <a:ext cx="1904695" cy="761695"/>
          </a:xfrm>
          <a:prstGeom prst="roundRect">
            <a:avLst>
              <a:gd name="adj" fmla="val 13325"/>
            </a:avLst>
          </a:prstGeom>
          <a:solidFill>
            <a:srgbClr val="FCFBF7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34402" y="3578962"/>
            <a:ext cx="1904695" cy="1883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kern="0" spc="8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DEPLOY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328709" y="3614623"/>
            <a:ext cx="114300" cy="137160"/>
          </a:xfrm>
          <a:prstGeom prst="chevron">
            <a:avLst/>
          </a:prstGeom>
          <a:solidFill>
            <a:srgbClr val="B15A38"/>
          </a:solidFill>
          <a:ln/>
        </p:spPr>
      </p:sp>
      <p:sp>
        <p:nvSpPr>
          <p:cNvPr id="17" name="Shape 15"/>
          <p:cNvSpPr/>
          <p:nvPr/>
        </p:nvSpPr>
        <p:spPr>
          <a:xfrm>
            <a:off x="9525305" y="3301898"/>
            <a:ext cx="1904695" cy="761695"/>
          </a:xfrm>
          <a:prstGeom prst="roundRect">
            <a:avLst>
              <a:gd name="adj" fmla="val 13325"/>
            </a:avLst>
          </a:prstGeom>
          <a:solidFill>
            <a:srgbClr val="EFEBDF"/>
          </a:solidFill>
          <a:ln w="12700">
            <a:solidFill>
              <a:srgbClr val="DAD4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25305" y="3578962"/>
            <a:ext cx="1904695" cy="1883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kern="0" spc="80" dirty="0">
                <a:solidFill>
                  <a:srgbClr val="1D1D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ANALYZE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1695" y="4549140"/>
            <a:ext cx="8635594" cy="2361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50" dirty="0">
                <a:solidFill>
                  <a:srgbClr val="5B5B60"/>
                </a:solidFill>
                <a:latin typeface="Segoe UI Semilight" pitchFamily="34" charset="0"/>
                <a:ea typeface="Segoe UI Semilight" pitchFamily="34" charset="-122"/>
                <a:cs typeface="Segoe UI Semilight" pitchFamily="34" charset="-120"/>
              </a:rPr>
              <a:t>One platform connecting POS generation, centralized management and Business Intelligence.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61695" y="5379415"/>
            <a:ext cx="10668305" cy="3941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300" dirty="0">
                <a:solidFill>
                  <a:srgbClr val="1D1D1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Thank you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761695" y="6418174"/>
            <a:ext cx="10668305" cy="128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kern="0" spc="2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Oussama Ferjani   ·   MAKTABI SARL   ·   2025 – 2026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61695" y="6424574"/>
            <a:ext cx="10668305" cy="119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700" dirty="0">
                <a:solidFill>
                  <a:srgbClr val="8A86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/ 20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1235</Words>
  <Application>Microsoft Office PowerPoint</Application>
  <PresentationFormat>Widescreen</PresentationFormat>
  <Paragraphs>407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Segoe UI</vt:lpstr>
      <vt:lpstr>Segoe UI Light</vt:lpstr>
      <vt:lpstr>Segoe UI Semibold</vt:lpstr>
      <vt:lpstr>Segoe UI Semilight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MAKTABI SARL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CarthaPOS — Intelligent SaaS Platform for Automated POS Generation and Business Intelligence</dc:title>
  <dc:subject>Final Year Engineering Project</dc:subject>
  <dc:creator>Oussama Ferjani</dc:creator>
  <cp:lastModifiedBy>Oussama Ferjani</cp:lastModifiedBy>
  <cp:revision>2</cp:revision>
  <dcterms:created xsi:type="dcterms:W3CDTF">2026-08-30T15:21:31Z</dcterms:created>
  <dcterms:modified xsi:type="dcterms:W3CDTF">2026-08-30T17:02:01Z</dcterms:modified>
</cp:coreProperties>
</file>